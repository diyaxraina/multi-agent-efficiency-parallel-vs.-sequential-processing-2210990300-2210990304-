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5"/>
  </p:notesMasterIdLst>
  <p:sldIdLst>
    <p:sldId id="256" r:id="rId2"/>
    <p:sldId id="258" r:id="rId3"/>
    <p:sldId id="259" r:id="rId4"/>
    <p:sldId id="261" r:id="rId5"/>
    <p:sldId id="262" r:id="rId6"/>
    <p:sldId id="263" r:id="rId7"/>
    <p:sldId id="268" r:id="rId8"/>
    <p:sldId id="269" r:id="rId9"/>
    <p:sldId id="275" r:id="rId10"/>
    <p:sldId id="272" r:id="rId11"/>
    <p:sldId id="273" r:id="rId12"/>
    <p:sldId id="274" r:id="rId13"/>
    <p:sldId id="267" r:id="rId14"/>
  </p:sldIdLst>
  <p:sldSz cx="12192000" cy="6858000"/>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HQ2jbF+TbJoLz8AoWS9kB4qPV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ya Raina" userId="5f2e22d96cedcda6" providerId="LiveId" clId="{73C03F88-3B7A-4E8B-B2D4-DF4539B1760D}"/>
    <pc:docChg chg="modSld">
      <pc:chgData name="Diya Raina" userId="5f2e22d96cedcda6" providerId="LiveId" clId="{73C03F88-3B7A-4E8B-B2D4-DF4539B1760D}" dt="2026-05-14T17:55:16.394" v="0" actId="2711"/>
      <pc:docMkLst>
        <pc:docMk/>
      </pc:docMkLst>
      <pc:sldChg chg="modSp mod">
        <pc:chgData name="Diya Raina" userId="5f2e22d96cedcda6" providerId="LiveId" clId="{73C03F88-3B7A-4E8B-B2D4-DF4539B1760D}" dt="2026-05-14T17:55:16.394" v="0" actId="2711"/>
        <pc:sldMkLst>
          <pc:docMk/>
          <pc:sldMk cId="2394451233" sldId="272"/>
        </pc:sldMkLst>
        <pc:spChg chg="mod">
          <ac:chgData name="Diya Raina" userId="5f2e22d96cedcda6" providerId="LiveId" clId="{73C03F88-3B7A-4E8B-B2D4-DF4539B1760D}" dt="2026-05-14T17:55:16.394" v="0" actId="2711"/>
          <ac:spMkLst>
            <pc:docMk/>
            <pc:sldMk cId="2394451233" sldId="272"/>
            <ac:spMk id="2" creationId="{0315898B-7D69-3A81-8A99-29ED35FC7AC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2e7a972ef_1_3: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42e7a972ef_1_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342e7a972ef_1_3: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42e7a972ef_1_18: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42e7a972ef_1_18: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42e7a972ef_1_18: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42e7a972ef_1_25: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42e7a972ef_1_25: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g342e7a972ef_1_25: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42e7a972ef_1_32: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42e7a972ef_1_32: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42e7a972ef_1_32: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573088" y="1336675"/>
            <a:ext cx="6413500"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12"/>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2"/>
          <p:cNvSpPr txBox="1">
            <a:spLocks noGrp="1"/>
          </p:cNvSpPr>
          <p:nvPr>
            <p:ph type="subTitle" idx="1"/>
          </p:nvPr>
        </p:nvSpPr>
        <p:spPr>
          <a:xfrm>
            <a:off x="609600" y="1604520"/>
            <a:ext cx="1097232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3"/>
          <p:cNvSpPr txBox="1">
            <a:spLocks noGrp="1"/>
          </p:cNvSpPr>
          <p:nvPr>
            <p:ph type="body" idx="1"/>
          </p:nvPr>
        </p:nvSpPr>
        <p:spPr>
          <a:xfrm>
            <a:off x="609600" y="1604520"/>
            <a:ext cx="1097232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60960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23232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16"/>
          <p:cNvSpPr txBox="1">
            <a:spLocks noGrp="1"/>
          </p:cNvSpPr>
          <p:nvPr>
            <p:ph type="subTitle" idx="1"/>
          </p:nvPr>
        </p:nvSpPr>
        <p:spPr>
          <a:xfrm>
            <a:off x="0" y="0"/>
            <a:ext cx="731472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7"/>
          <p:cNvSpPr txBox="1">
            <a:spLocks noGrp="1"/>
          </p:cNvSpPr>
          <p:nvPr>
            <p:ph type="body" idx="1"/>
          </p:nvPr>
        </p:nvSpPr>
        <p:spPr>
          <a:xfrm>
            <a:off x="60960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body" idx="2"/>
          </p:nvPr>
        </p:nvSpPr>
        <p:spPr>
          <a:xfrm>
            <a:off x="623232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49" name="Google Shape;49;p17"/>
          <p:cNvSpPr txBox="1">
            <a:spLocks noGrp="1"/>
          </p:cNvSpPr>
          <p:nvPr>
            <p:ph type="body" idx="3"/>
          </p:nvPr>
        </p:nvSpPr>
        <p:spPr>
          <a:xfrm>
            <a:off x="60960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18"/>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8"/>
          <p:cNvSpPr txBox="1">
            <a:spLocks noGrp="1"/>
          </p:cNvSpPr>
          <p:nvPr>
            <p:ph type="body" idx="1"/>
          </p:nvPr>
        </p:nvSpPr>
        <p:spPr>
          <a:xfrm>
            <a:off x="609600" y="1604520"/>
            <a:ext cx="5354400" cy="397728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3" name="Google Shape;53;p18"/>
          <p:cNvSpPr txBox="1">
            <a:spLocks noGrp="1"/>
          </p:cNvSpPr>
          <p:nvPr>
            <p:ph type="body" idx="2"/>
          </p:nvPr>
        </p:nvSpPr>
        <p:spPr>
          <a:xfrm>
            <a:off x="623232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4" name="Google Shape;54;p18"/>
          <p:cNvSpPr txBox="1">
            <a:spLocks noGrp="1"/>
          </p:cNvSpPr>
          <p:nvPr>
            <p:ph type="body" idx="3"/>
          </p:nvPr>
        </p:nvSpPr>
        <p:spPr>
          <a:xfrm>
            <a:off x="623232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9"/>
          <p:cNvSpPr txBox="1">
            <a:spLocks noGrp="1"/>
          </p:cNvSpPr>
          <p:nvPr>
            <p:ph type="body" idx="1"/>
          </p:nvPr>
        </p:nvSpPr>
        <p:spPr>
          <a:xfrm>
            <a:off x="60960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body" idx="2"/>
          </p:nvPr>
        </p:nvSpPr>
        <p:spPr>
          <a:xfrm>
            <a:off x="623232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59" name="Google Shape;59;p19"/>
          <p:cNvSpPr txBox="1">
            <a:spLocks noGrp="1"/>
          </p:cNvSpPr>
          <p:nvPr>
            <p:ph type="body" idx="3"/>
          </p:nvPr>
        </p:nvSpPr>
        <p:spPr>
          <a:xfrm>
            <a:off x="609600" y="3682080"/>
            <a:ext cx="1097232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20"/>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0"/>
          <p:cNvSpPr txBox="1">
            <a:spLocks noGrp="1"/>
          </p:cNvSpPr>
          <p:nvPr>
            <p:ph type="body" idx="1"/>
          </p:nvPr>
        </p:nvSpPr>
        <p:spPr>
          <a:xfrm>
            <a:off x="609600" y="1604520"/>
            <a:ext cx="1097232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3" name="Google Shape;63;p20"/>
          <p:cNvSpPr txBox="1">
            <a:spLocks noGrp="1"/>
          </p:cNvSpPr>
          <p:nvPr>
            <p:ph type="body" idx="2"/>
          </p:nvPr>
        </p:nvSpPr>
        <p:spPr>
          <a:xfrm>
            <a:off x="609600" y="3682080"/>
            <a:ext cx="1097232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21"/>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1"/>
          <p:cNvSpPr txBox="1">
            <a:spLocks noGrp="1"/>
          </p:cNvSpPr>
          <p:nvPr>
            <p:ph type="body" idx="1"/>
          </p:nvPr>
        </p:nvSpPr>
        <p:spPr>
          <a:xfrm>
            <a:off x="60960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7" name="Google Shape;67;p21"/>
          <p:cNvSpPr txBox="1">
            <a:spLocks noGrp="1"/>
          </p:cNvSpPr>
          <p:nvPr>
            <p:ph type="body" idx="2"/>
          </p:nvPr>
        </p:nvSpPr>
        <p:spPr>
          <a:xfrm>
            <a:off x="6232320" y="160452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8" name="Google Shape;68;p21"/>
          <p:cNvSpPr txBox="1">
            <a:spLocks noGrp="1"/>
          </p:cNvSpPr>
          <p:nvPr>
            <p:ph type="body" idx="3"/>
          </p:nvPr>
        </p:nvSpPr>
        <p:spPr>
          <a:xfrm>
            <a:off x="60960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69" name="Google Shape;69;p21"/>
          <p:cNvSpPr txBox="1">
            <a:spLocks noGrp="1"/>
          </p:cNvSpPr>
          <p:nvPr>
            <p:ph type="body" idx="4"/>
          </p:nvPr>
        </p:nvSpPr>
        <p:spPr>
          <a:xfrm>
            <a:off x="6232320" y="3682080"/>
            <a:ext cx="53544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22"/>
          <p:cNvSpPr txBox="1">
            <a:spLocks noGrp="1"/>
          </p:cNvSpPr>
          <p:nvPr>
            <p:ph type="title"/>
          </p:nvPr>
        </p:nvSpPr>
        <p:spPr>
          <a:xfrm>
            <a:off x="0" y="0"/>
            <a:ext cx="731472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2"/>
          <p:cNvSpPr txBox="1">
            <a:spLocks noGrp="1"/>
          </p:cNvSpPr>
          <p:nvPr>
            <p:ph type="body" idx="1"/>
          </p:nvPr>
        </p:nvSpPr>
        <p:spPr>
          <a:xfrm>
            <a:off x="609600" y="160452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3" name="Google Shape;73;p22"/>
          <p:cNvSpPr txBox="1">
            <a:spLocks noGrp="1"/>
          </p:cNvSpPr>
          <p:nvPr>
            <p:ph type="body" idx="2"/>
          </p:nvPr>
        </p:nvSpPr>
        <p:spPr>
          <a:xfrm>
            <a:off x="4319520" y="160452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4" name="Google Shape;74;p22"/>
          <p:cNvSpPr txBox="1">
            <a:spLocks noGrp="1"/>
          </p:cNvSpPr>
          <p:nvPr>
            <p:ph type="body" idx="3"/>
          </p:nvPr>
        </p:nvSpPr>
        <p:spPr>
          <a:xfrm>
            <a:off x="8029440" y="160452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body" idx="4"/>
          </p:nvPr>
        </p:nvSpPr>
        <p:spPr>
          <a:xfrm>
            <a:off x="609600" y="368208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6" name="Google Shape;76;p22"/>
          <p:cNvSpPr txBox="1">
            <a:spLocks noGrp="1"/>
          </p:cNvSpPr>
          <p:nvPr>
            <p:ph type="body" idx="5"/>
          </p:nvPr>
        </p:nvSpPr>
        <p:spPr>
          <a:xfrm>
            <a:off x="4319520" y="368208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
        <p:nvSpPr>
          <p:cNvPr id="77" name="Google Shape;77;p22"/>
          <p:cNvSpPr txBox="1">
            <a:spLocks noGrp="1"/>
          </p:cNvSpPr>
          <p:nvPr>
            <p:ph type="body" idx="6"/>
          </p:nvPr>
        </p:nvSpPr>
        <p:spPr>
          <a:xfrm>
            <a:off x="8029440" y="3682080"/>
            <a:ext cx="3532800" cy="1896840"/>
          </a:xfrm>
          <a:prstGeom prst="rect">
            <a:avLst/>
          </a:prstGeom>
          <a:noFill/>
          <a:ln>
            <a:noFill/>
          </a:ln>
        </p:spPr>
        <p:txBody>
          <a:bodyPr spcFirstLastPara="1" wrap="square" lIns="0" tIns="0" rIns="0" bIns="0" anchor="t" anchorCtr="0">
            <a:normAutofit/>
          </a:bodyPr>
          <a:lstStyle>
            <a:lvl1pPr marL="457189" lvl="0" indent="-342891" algn="l">
              <a:lnSpc>
                <a:spcPct val="90000"/>
              </a:lnSpc>
              <a:spcBef>
                <a:spcPts val="1000"/>
              </a:spcBef>
              <a:spcAft>
                <a:spcPts val="0"/>
              </a:spcAft>
              <a:buClr>
                <a:schemeClr val="dk1"/>
              </a:buClr>
              <a:buSzPts val="1800"/>
              <a:buChar char="•"/>
              <a:defRPr/>
            </a:lvl1pPr>
            <a:lvl2pPr marL="914377" lvl="1" indent="-342891" algn="l">
              <a:lnSpc>
                <a:spcPct val="90000"/>
              </a:lnSpc>
              <a:spcBef>
                <a:spcPts val="500"/>
              </a:spcBef>
              <a:spcAft>
                <a:spcPts val="0"/>
              </a:spcAft>
              <a:buClr>
                <a:schemeClr val="dk1"/>
              </a:buClr>
              <a:buSzPts val="1800"/>
              <a:buChar char="•"/>
              <a:defRPr/>
            </a:lvl2pPr>
            <a:lvl3pPr marL="1371566" lvl="2" indent="-342891" algn="l">
              <a:lnSpc>
                <a:spcPct val="90000"/>
              </a:lnSpc>
              <a:spcBef>
                <a:spcPts val="500"/>
              </a:spcBef>
              <a:spcAft>
                <a:spcPts val="0"/>
              </a:spcAft>
              <a:buClr>
                <a:schemeClr val="dk1"/>
              </a:buClr>
              <a:buSzPts val="1800"/>
              <a:buChar char="•"/>
              <a:defRPr/>
            </a:lvl3pPr>
            <a:lvl4pPr marL="1828754" lvl="3" indent="-342891" algn="l">
              <a:lnSpc>
                <a:spcPct val="90000"/>
              </a:lnSpc>
              <a:spcBef>
                <a:spcPts val="500"/>
              </a:spcBef>
              <a:spcAft>
                <a:spcPts val="0"/>
              </a:spcAft>
              <a:buClr>
                <a:schemeClr val="dk1"/>
              </a:buClr>
              <a:buSzPts val="1800"/>
              <a:buChar char="•"/>
              <a:defRPr/>
            </a:lvl4pPr>
            <a:lvl5pPr marL="2285943" lvl="4" indent="-342891" algn="l">
              <a:lnSpc>
                <a:spcPct val="90000"/>
              </a:lnSpc>
              <a:spcBef>
                <a:spcPts val="500"/>
              </a:spcBef>
              <a:spcAft>
                <a:spcPts val="0"/>
              </a:spcAft>
              <a:buClr>
                <a:schemeClr val="dk1"/>
              </a:buClr>
              <a:buSzPts val="1800"/>
              <a:buChar char="•"/>
              <a:defRPr/>
            </a:lvl5pPr>
            <a:lvl6pPr marL="2743131" lvl="5" indent="-342891" algn="l">
              <a:lnSpc>
                <a:spcPct val="90000"/>
              </a:lnSpc>
              <a:spcBef>
                <a:spcPts val="500"/>
              </a:spcBef>
              <a:spcAft>
                <a:spcPts val="0"/>
              </a:spcAft>
              <a:buClr>
                <a:schemeClr val="dk1"/>
              </a:buClr>
              <a:buSzPts val="1800"/>
              <a:buChar char="•"/>
              <a:defRPr/>
            </a:lvl6pPr>
            <a:lvl7pPr marL="3200320" lvl="6" indent="-342891" algn="l">
              <a:lnSpc>
                <a:spcPct val="90000"/>
              </a:lnSpc>
              <a:spcBef>
                <a:spcPts val="500"/>
              </a:spcBef>
              <a:spcAft>
                <a:spcPts val="0"/>
              </a:spcAft>
              <a:buClr>
                <a:schemeClr val="dk1"/>
              </a:buClr>
              <a:buSzPts val="1800"/>
              <a:buChar char="•"/>
              <a:defRPr/>
            </a:lvl7pPr>
            <a:lvl8pPr marL="3657509" lvl="7" indent="-342891" algn="l">
              <a:lnSpc>
                <a:spcPct val="90000"/>
              </a:lnSpc>
              <a:spcBef>
                <a:spcPts val="500"/>
              </a:spcBef>
              <a:spcAft>
                <a:spcPts val="0"/>
              </a:spcAft>
              <a:buClr>
                <a:schemeClr val="dk1"/>
              </a:buClr>
              <a:buSzPts val="1800"/>
              <a:buChar char="•"/>
              <a:defRPr/>
            </a:lvl8pPr>
            <a:lvl9pPr marL="4114697" lvl="8" indent="-342891"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0"/>
          <p:cNvSpPr/>
          <p:nvPr/>
        </p:nvSpPr>
        <p:spPr>
          <a:xfrm>
            <a:off x="0" y="0"/>
            <a:ext cx="1219152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1;p10"/>
          <p:cNvSpPr/>
          <p:nvPr/>
        </p:nvSpPr>
        <p:spPr>
          <a:xfrm rot="10800000" flipH="1">
            <a:off x="0" y="6704640"/>
            <a:ext cx="1219152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2" name="Google Shape;12;p10" descr="LOGO.gif"/>
          <p:cNvPicPr preferRelativeResize="0"/>
          <p:nvPr/>
        </p:nvPicPr>
        <p:blipFill rotWithShape="1">
          <a:blip r:embed="rId14">
            <a:alphaModFix/>
          </a:blip>
          <a:srcRect b="10718"/>
          <a:stretch/>
        </p:blipFill>
        <p:spPr>
          <a:xfrm>
            <a:off x="8737440" y="228600"/>
            <a:ext cx="2742720" cy="634680"/>
          </a:xfrm>
          <a:prstGeom prst="rect">
            <a:avLst/>
          </a:prstGeom>
          <a:noFill/>
          <a:ln>
            <a:noFill/>
          </a:ln>
        </p:spPr>
      </p:pic>
      <p:pic>
        <p:nvPicPr>
          <p:cNvPr id="13" name="Google Shape;13;p10" descr="LOGO.gif"/>
          <p:cNvPicPr preferRelativeResize="0"/>
          <p:nvPr/>
        </p:nvPicPr>
        <p:blipFill rotWithShape="1">
          <a:blip r:embed="rId14">
            <a:alphaModFix/>
          </a:blip>
          <a:srcRect b="10718"/>
          <a:stretch/>
        </p:blipFill>
        <p:spPr>
          <a:xfrm>
            <a:off x="8737440" y="228600"/>
            <a:ext cx="2742720" cy="634680"/>
          </a:xfrm>
          <a:prstGeom prst="rect">
            <a:avLst/>
          </a:prstGeom>
          <a:noFill/>
          <a:ln>
            <a:noFill/>
          </a:ln>
        </p:spPr>
      </p:pic>
      <p:grpSp>
        <p:nvGrpSpPr>
          <p:cNvPr id="14" name="Google Shape;14;p10"/>
          <p:cNvGrpSpPr/>
          <p:nvPr/>
        </p:nvGrpSpPr>
        <p:grpSpPr>
          <a:xfrm>
            <a:off x="8195520" y="0"/>
            <a:ext cx="3996000" cy="875880"/>
            <a:chOff x="6146640" y="0"/>
            <a:chExt cx="2997000" cy="875880"/>
          </a:xfrm>
        </p:grpSpPr>
        <p:sp>
          <p:nvSpPr>
            <p:cNvPr id="15" name="Google Shape;15;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6" name="Google Shape;16;p10"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18" name="Google Shape;18;p10" descr="logo.jpg"/>
          <p:cNvPicPr preferRelativeResize="0"/>
          <p:nvPr/>
        </p:nvPicPr>
        <p:blipFill rotWithShape="1">
          <a:blip r:embed="rId15">
            <a:alphaModFix/>
          </a:blip>
          <a:srcRect/>
          <a:stretch/>
        </p:blipFill>
        <p:spPr>
          <a:xfrm>
            <a:off x="8737440" y="228600"/>
            <a:ext cx="2560800" cy="609120"/>
          </a:xfrm>
          <a:prstGeom prst="rect">
            <a:avLst/>
          </a:prstGeom>
          <a:noFill/>
          <a:ln>
            <a:noFill/>
          </a:ln>
        </p:spPr>
      </p:pic>
      <p:pic>
        <p:nvPicPr>
          <p:cNvPr id="19" name="Google Shape;19;p10" descr="LOGO.gif"/>
          <p:cNvPicPr preferRelativeResize="0"/>
          <p:nvPr/>
        </p:nvPicPr>
        <p:blipFill rotWithShape="1">
          <a:blip r:embed="rId14">
            <a:alphaModFix/>
          </a:blip>
          <a:srcRect b="10718"/>
          <a:stretch/>
        </p:blipFill>
        <p:spPr>
          <a:xfrm>
            <a:off x="8737440" y="228600"/>
            <a:ext cx="2742720" cy="634680"/>
          </a:xfrm>
          <a:prstGeom prst="rect">
            <a:avLst/>
          </a:prstGeom>
          <a:noFill/>
          <a:ln>
            <a:noFill/>
          </a:ln>
        </p:spPr>
      </p:pic>
      <p:grpSp>
        <p:nvGrpSpPr>
          <p:cNvPr id="20" name="Google Shape;20;p10"/>
          <p:cNvGrpSpPr/>
          <p:nvPr/>
        </p:nvGrpSpPr>
        <p:grpSpPr>
          <a:xfrm>
            <a:off x="8195520" y="0"/>
            <a:ext cx="3996000" cy="875880"/>
            <a:chOff x="6146640" y="0"/>
            <a:chExt cx="2997000" cy="875880"/>
          </a:xfrm>
        </p:grpSpPr>
        <p:sp>
          <p:nvSpPr>
            <p:cNvPr id="21" name="Google Shape;21;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22" name="Google Shape;22;p10"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grpSp>
      <p:pic>
        <p:nvPicPr>
          <p:cNvPr id="24" name="Google Shape;24;p10" descr="logo.jpg"/>
          <p:cNvPicPr preferRelativeResize="0"/>
          <p:nvPr/>
        </p:nvPicPr>
        <p:blipFill rotWithShape="1">
          <a:blip r:embed="rId15">
            <a:alphaModFix/>
          </a:blip>
          <a:srcRect/>
          <a:stretch/>
        </p:blipFill>
        <p:spPr>
          <a:xfrm>
            <a:off x="8737440" y="228600"/>
            <a:ext cx="2560800" cy="609120"/>
          </a:xfrm>
          <a:prstGeom prst="rect">
            <a:avLst/>
          </a:prstGeom>
          <a:noFill/>
          <a:ln>
            <a:noFill/>
          </a:ln>
        </p:spPr>
      </p:pic>
      <p:sp>
        <p:nvSpPr>
          <p:cNvPr id="25" name="Google Shape;25;p10"/>
          <p:cNvSpPr txBox="1">
            <a:spLocks noGrp="1"/>
          </p:cNvSpPr>
          <p:nvPr>
            <p:ph type="title"/>
          </p:nvPr>
        </p:nvSpPr>
        <p:spPr>
          <a:xfrm>
            <a:off x="0" y="0"/>
            <a:ext cx="863568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0"/>
          <p:cNvSpPr txBox="1">
            <a:spLocks noGrp="1"/>
          </p:cNvSpPr>
          <p:nvPr>
            <p:ph type="body" idx="1"/>
          </p:nvPr>
        </p:nvSpPr>
        <p:spPr>
          <a:xfrm>
            <a:off x="609600" y="1371600"/>
            <a:ext cx="1097232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0"/>
          <p:cNvSpPr txBox="1">
            <a:spLocks noGrp="1"/>
          </p:cNvSpPr>
          <p:nvPr>
            <p:ph type="dt" idx="10"/>
          </p:nvPr>
        </p:nvSpPr>
        <p:spPr>
          <a:xfrm>
            <a:off x="609600" y="6356520"/>
            <a:ext cx="284448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10"/>
          <p:cNvSpPr txBox="1">
            <a:spLocks noGrp="1"/>
          </p:cNvSpPr>
          <p:nvPr>
            <p:ph type="ftr" idx="11"/>
          </p:nvPr>
        </p:nvSpPr>
        <p:spPr>
          <a:xfrm>
            <a:off x="4165440" y="6356520"/>
            <a:ext cx="38601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10"/>
          <p:cNvSpPr txBox="1">
            <a:spLocks noGrp="1"/>
          </p:cNvSpPr>
          <p:nvPr>
            <p:ph type="sldNum" idx="12"/>
          </p:nvPr>
        </p:nvSpPr>
        <p:spPr>
          <a:xfrm>
            <a:off x="8737440" y="6356520"/>
            <a:ext cx="284448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1524000" y="647055"/>
            <a:ext cx="9144000" cy="5872500"/>
          </a:xfrm>
          <a:prstGeom prst="rect">
            <a:avLst/>
          </a:prstGeom>
          <a:noFill/>
          <a:ln>
            <a:noFill/>
          </a:ln>
        </p:spPr>
        <p:txBody>
          <a:bodyPr spcFirstLastPara="1" wrap="square" lIns="91425" tIns="45700" rIns="91425" bIns="45700" anchor="t" anchorCtr="0">
            <a:noAutofit/>
          </a:bodyPr>
          <a:lstStyle/>
          <a:p>
            <a:pPr algn="ctr"/>
            <a:endParaRPr sz="1800" b="1" dirty="0">
              <a:solidFill>
                <a:schemeClr val="dk1"/>
              </a:solidFill>
              <a:latin typeface="Times New Roman"/>
              <a:ea typeface="Times New Roman"/>
              <a:cs typeface="Times New Roman"/>
              <a:sym typeface="Times New Roman"/>
            </a:endParaRPr>
          </a:p>
          <a:p>
            <a:pPr algn="ctr">
              <a:spcBef>
                <a:spcPts val="400"/>
              </a:spcBef>
            </a:pPr>
            <a:br>
              <a:rPr lang="en-IN" sz="2800" dirty="0"/>
            </a:br>
            <a:r>
              <a:rPr lang="en-IN" sz="2800" dirty="0"/>
              <a:t>Multi-Agent Efficiency: Parallel vs. Sequential Processing</a:t>
            </a:r>
            <a:br>
              <a:rPr lang="en-IN" sz="4000" dirty="0">
                <a:latin typeface="Times New Roman" panose="02020603050405020304" pitchFamily="18" charset="0"/>
                <a:cs typeface="Times New Roman" panose="02020603050405020304" pitchFamily="18" charset="0"/>
              </a:rPr>
            </a:br>
            <a:br>
              <a:rPr lang="en-IN" sz="4000" dirty="0"/>
            </a:br>
            <a:r>
              <a:rPr lang="en-US" sz="2400" dirty="0">
                <a:latin typeface="Times New Roman"/>
                <a:cs typeface="Times New Roman"/>
                <a:sym typeface="Times New Roman"/>
              </a:rPr>
              <a:t>Diya – </a:t>
            </a:r>
            <a:r>
              <a:rPr lang="en-US" sz="2400" dirty="0">
                <a:latin typeface="Times New Roman"/>
                <a:ea typeface="Times New Roman"/>
                <a:cs typeface="Times New Roman"/>
                <a:sym typeface="Times New Roman"/>
              </a:rPr>
              <a:t>2210990300</a:t>
            </a:r>
          </a:p>
          <a:p>
            <a:pPr algn="ctr">
              <a:spcBef>
                <a:spcPts val="400"/>
              </a:spcBef>
            </a:pPr>
            <a:r>
              <a:rPr lang="en-US" sz="2400" dirty="0">
                <a:latin typeface="Times New Roman"/>
                <a:ea typeface="Times New Roman"/>
                <a:cs typeface="Times New Roman"/>
                <a:sym typeface="Times New Roman"/>
              </a:rPr>
              <a:t>Diya Raina - 2210990304</a:t>
            </a:r>
            <a:br>
              <a:rPr lang="en-US" sz="2000" dirty="0">
                <a:latin typeface="Times New Roman"/>
                <a:ea typeface="Times New Roman"/>
                <a:cs typeface="Times New Roman"/>
                <a:sym typeface="Times New Roman"/>
              </a:rPr>
            </a:br>
            <a:br>
              <a:rPr lang="en-US" sz="2000" dirty="0">
                <a:latin typeface="Times New Roman"/>
                <a:ea typeface="Times New Roman"/>
                <a:cs typeface="Times New Roman"/>
                <a:sym typeface="Times New Roman"/>
              </a:rPr>
            </a:br>
            <a:endParaRPr lang="en-US" sz="2000" dirty="0">
              <a:latin typeface="Times New Roman"/>
              <a:ea typeface="Times New Roman"/>
              <a:cs typeface="Times New Roman"/>
              <a:sym typeface="Times New Roman"/>
            </a:endParaRPr>
          </a:p>
          <a:p>
            <a:pPr algn="ctr">
              <a:spcBef>
                <a:spcPts val="400"/>
              </a:spcBef>
            </a:pPr>
            <a:r>
              <a:rPr lang="en-US" sz="2000" dirty="0">
                <a:latin typeface="Times New Roman"/>
                <a:ea typeface="Times New Roman"/>
                <a:cs typeface="Times New Roman"/>
                <a:sym typeface="Times New Roman"/>
              </a:rPr>
              <a:t>Supervised By</a:t>
            </a:r>
            <a:endParaRPr lang="en-US" sz="1100" dirty="0">
              <a:latin typeface="Times New Roman"/>
              <a:ea typeface="Times New Roman"/>
              <a:cs typeface="Times New Roman"/>
              <a:sym typeface="Times New Roman"/>
            </a:endParaRPr>
          </a:p>
          <a:p>
            <a:pPr algn="ctr">
              <a:spcBef>
                <a:spcPts val="400"/>
              </a:spcBef>
            </a:pPr>
            <a:r>
              <a:rPr lang="en-US" sz="2000" dirty="0">
                <a:latin typeface="Times New Roman"/>
                <a:ea typeface="Times New Roman"/>
                <a:cs typeface="Times New Roman"/>
                <a:sym typeface="Times New Roman"/>
              </a:rPr>
              <a:t>Prof. Dr. S. B Goyal</a:t>
            </a:r>
          </a:p>
          <a:p>
            <a:pPr algn="ctr">
              <a:spcBef>
                <a:spcPts val="400"/>
              </a:spcBef>
            </a:pPr>
            <a:r>
              <a:rPr lang="en-US" sz="2000" dirty="0">
                <a:latin typeface="Times New Roman"/>
                <a:ea typeface="Times New Roman"/>
                <a:cs typeface="Times New Roman"/>
                <a:sym typeface="Times New Roman"/>
              </a:rPr>
              <a:t> </a:t>
            </a:r>
            <a:r>
              <a:rPr lang="en-US" sz="2400" dirty="0">
                <a:solidFill>
                  <a:schemeClr val="dk1"/>
                </a:solidFill>
                <a:latin typeface="Times New Roman"/>
                <a:ea typeface="Times New Roman"/>
                <a:cs typeface="Times New Roman"/>
                <a:sym typeface="Times New Roman"/>
              </a:rPr>
              <a:t>Department of Computer Science and Engineering, </a:t>
            </a:r>
            <a:endParaRPr lang="en-US" sz="1100" dirty="0">
              <a:latin typeface="Times New Roman"/>
              <a:ea typeface="Times New Roman"/>
              <a:cs typeface="Times New Roman"/>
              <a:sym typeface="Times New Roman"/>
            </a:endParaRPr>
          </a:p>
          <a:p>
            <a:pPr algn="ctr">
              <a:spcBef>
                <a:spcPts val="400"/>
              </a:spcBef>
            </a:pPr>
            <a:r>
              <a:rPr lang="en-US" sz="2400" dirty="0">
                <a:solidFill>
                  <a:schemeClr val="dk1"/>
                </a:solidFill>
                <a:latin typeface="Times New Roman"/>
                <a:ea typeface="Times New Roman"/>
                <a:cs typeface="Times New Roman"/>
                <a:sym typeface="Times New Roman"/>
              </a:rPr>
              <a:t>Chitkara University, Punjab</a:t>
            </a:r>
            <a:endParaRPr lang="en-US" sz="11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489389" y="0"/>
            <a:ext cx="6511637" cy="914040"/>
          </a:xfrm>
          <a:prstGeom prst="rect">
            <a:avLst/>
          </a:prstGeom>
          <a:noFill/>
          <a:ln>
            <a:noFill/>
          </a:ln>
        </p:spPr>
        <p:txBody>
          <a:bodyPr spcFirstLastPara="1" wrap="square" lIns="0" tIns="0" rIns="0" bIns="0" anchor="ctr" anchorCtr="0">
            <a:noAutofit/>
          </a:bodyPr>
          <a:lstStyle/>
          <a:p>
            <a:pPr algn="l">
              <a:defRPr sz="2800" b="1">
                <a:latin typeface="Arial"/>
              </a:defRPr>
            </a:pPr>
            <a:r>
              <a:rPr lang="en-IN" sz="3200" dirty="0">
                <a:latin typeface="Times New Roman" panose="02020603050405020304" pitchFamily="18" charset="0"/>
                <a:cs typeface="Times New Roman" panose="02020603050405020304" pitchFamily="18" charset="0"/>
              </a:rPr>
              <a:t>  Abstract</a:t>
            </a:r>
            <a:endParaRPr sz="3200" dirty="0">
              <a:latin typeface="Times New Roman" panose="02020603050405020304" pitchFamily="18" charset="0"/>
              <a:cs typeface="Times New Roman" panose="02020603050405020304" pitchFamily="18" charset="0"/>
            </a:endParaRPr>
          </a:p>
        </p:txBody>
      </p:sp>
      <p:sp>
        <p:nvSpPr>
          <p:cNvPr id="2" name="Subtitle 1">
            <a:extLst>
              <a:ext uri="{FF2B5EF4-FFF2-40B4-BE49-F238E27FC236}">
                <a16:creationId xmlns:a16="http://schemas.microsoft.com/office/drawing/2014/main" id="{F66B1957-FC10-389A-B6A2-E1544B8FB1FD}"/>
              </a:ext>
            </a:extLst>
          </p:cNvPr>
          <p:cNvSpPr>
            <a:spLocks noGrp="1" noChangeArrowheads="1"/>
          </p:cNvSpPr>
          <p:nvPr>
            <p:ph type="subTitle" idx="1"/>
          </p:nvPr>
        </p:nvSpPr>
        <p:spPr bwMode="auto">
          <a:xfrm>
            <a:off x="489389" y="1025377"/>
            <a:ext cx="9950011" cy="5283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r>
              <a:rPr lang="en-US" sz="1600" dirty="0"/>
              <a:t>Artificial intelligence systems are rapidly evolving from traditional monolithic models toward distributed multi-agent architectures. Monolithic models perform all computations within a single system, while multi-agent systems divide tasks among multiple specialized agents that collaborate to solve complex problems. Although multi-agent systems improve flexibility, scalability, and reasoning quality, they also introduce additional computational costs due to communication and coordination among agents.</a:t>
            </a:r>
            <a:br>
              <a:rPr lang="en-US" sz="1600" dirty="0"/>
            </a:br>
            <a:endParaRPr lang="en-US" sz="1600" dirty="0"/>
          </a:p>
          <a:p>
            <a:r>
              <a:rPr lang="en-US" sz="1600" dirty="0"/>
              <a:t>This research compares monolithic AI systems with multi-agent architectures using both parallel and sequential processing approaches. The study evaluates their performance using metrics such as execution time, energy consumption, and computational efficiency. Real-time monitoring tools like </a:t>
            </a:r>
            <a:r>
              <a:rPr lang="en-US" sz="1600" dirty="0" err="1"/>
              <a:t>CodeCarbon</a:t>
            </a:r>
            <a:r>
              <a:rPr lang="en-US" sz="1600" dirty="0"/>
              <a:t> are used to measure energy usage during task execution.</a:t>
            </a:r>
            <a:br>
              <a:rPr lang="en-US" sz="1600" dirty="0"/>
            </a:br>
            <a:endParaRPr lang="en-US" sz="1600" dirty="0"/>
          </a:p>
          <a:p>
            <a:r>
              <a:rPr lang="en-US" sz="1600" dirty="0"/>
              <a:t>The findings show that monolithic systems are more energy-efficient for simple tasks because they avoid communication overhead. However, for complex workflows requiring verification, refinement, and collaboration, multi-agent systems produce better-quality outputs and higher reliability. Parallel processing reduces execution time but increases energy usage, while sequential processing improves coordination at the cost of slower execution.</a:t>
            </a:r>
            <a:br>
              <a:rPr lang="en-US" sz="1600" dirty="0"/>
            </a:br>
            <a:endParaRPr lang="en-US" sz="1600" dirty="0"/>
          </a:p>
          <a:p>
            <a:r>
              <a:rPr lang="en-US" sz="1600" dirty="0"/>
              <a:t>Overall, the research highlights the importance of balancing performance and sustainability in AI system design and recommends adaptive hybrid architectures that dynamically select the most efficient processing strategy.</a:t>
            </a:r>
          </a:p>
          <a:p>
            <a:pPr marL="0" indent="0" eaLnBrk="0" fontAlgn="base" hangingPunct="0">
              <a:lnSpc>
                <a:spcPct val="100000"/>
              </a:lnSpc>
              <a:spcBef>
                <a:spcPct val="0"/>
              </a:spcBef>
              <a:spcAft>
                <a:spcPct val="0"/>
              </a:spcAft>
              <a:buClrTx/>
              <a:buSzTx/>
              <a:buNone/>
            </a:pPr>
            <a:endParaRPr lang="en-US" altLang="en-US" sz="1600" dirty="0">
              <a:solidFill>
                <a:schemeClr val="tx1"/>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342e7a972ef_1_3"/>
          <p:cNvSpPr txBox="1">
            <a:spLocks noGrp="1"/>
          </p:cNvSpPr>
          <p:nvPr>
            <p:ph type="title"/>
          </p:nvPr>
        </p:nvSpPr>
        <p:spPr>
          <a:xfrm>
            <a:off x="-371475" y="0"/>
            <a:ext cx="5486100" cy="914100"/>
          </a:xfrm>
          <a:prstGeom prst="rect">
            <a:avLst/>
          </a:prstGeom>
        </p:spPr>
        <p:txBody>
          <a:bodyPr spcFirstLastPara="1" wrap="square" lIns="0" tIns="0" rIns="0" bIns="0" anchor="ctr" anchorCtr="0">
            <a:noAutofit/>
          </a:bodyPr>
          <a:lstStyle/>
          <a:p>
            <a:pPr marL="457189" indent="457189"/>
            <a:r>
              <a:rPr lang="en-US" sz="3200" b="1" dirty="0">
                <a:latin typeface="Times New Roman" panose="02020603050405020304" pitchFamily="18" charset="0"/>
                <a:cs typeface="Times New Roman" panose="02020603050405020304" pitchFamily="18" charset="0"/>
              </a:rPr>
              <a:t>Introduction</a:t>
            </a:r>
            <a:endParaRPr sz="3200" b="1"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75B53498-92EC-6861-1EDF-FFF84A512568}"/>
              </a:ext>
            </a:extLst>
          </p:cNvPr>
          <p:cNvSpPr>
            <a:spLocks noGrp="1" noChangeArrowheads="1"/>
          </p:cNvSpPr>
          <p:nvPr>
            <p:ph type="subTitle" idx="1"/>
          </p:nvPr>
        </p:nvSpPr>
        <p:spPr bwMode="auto">
          <a:xfrm>
            <a:off x="388620" y="1024903"/>
            <a:ext cx="10070973" cy="5061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prstTxWarp prst="textNoShape">
              <a:avLst/>
            </a:prstTxWarp>
            <a:spAutoFit/>
          </a:bodyPr>
          <a:lstStyle/>
          <a:p>
            <a:r>
              <a:rPr lang="en-US" sz="1600" dirty="0"/>
              <a:t>Artificial intelligence systems have evolved significantly from simple rule-based programs to highly advanced deep learning architectures capable of solving complex real-world problems. Traditionally, AI systems were designed as monolithic models in which a single large model performs all required operations independently. These systems provide strong reasoning capabilities and high-quality outputs but require enormous computational resources, including high-performance GPUs, extensive memory, and large amounts of electricity.</a:t>
            </a:r>
            <a:br>
              <a:rPr lang="en-US" sz="1600" dirty="0"/>
            </a:br>
            <a:endParaRPr lang="en-US" sz="1600" dirty="0"/>
          </a:p>
          <a:p>
            <a:r>
              <a:rPr lang="en-US" sz="1600" dirty="0"/>
              <a:t>To overcome these limitations, researchers introduced multi-agent systems, where multiple specialized agents collaborate to solve tasks collectively. Instead of relying on a single large model, these systems distribute responsibilities among different agents such as processing agents, verification agents, and refinement agents.</a:t>
            </a:r>
            <a:br>
              <a:rPr lang="en-US" sz="1600" dirty="0"/>
            </a:br>
            <a:endParaRPr lang="en-US" sz="1600" dirty="0"/>
          </a:p>
          <a:p>
            <a:r>
              <a:rPr lang="en-US" sz="1600" dirty="0"/>
              <a:t>However, the collaboration between agents creates a new challenge known as communication overhead. Since agents must continuously exchange information, synchronize tasks, and coordinate decisions, additional computational power and energy are consumed. This extra cost is referred to in this research as the “energy tax” of multi-agent systems.</a:t>
            </a:r>
            <a:br>
              <a:rPr lang="en-US" sz="1600" dirty="0"/>
            </a:br>
            <a:endParaRPr lang="en-US" sz="1600" dirty="0"/>
          </a:p>
          <a:p>
            <a:r>
              <a:rPr lang="en-US" sz="1600" dirty="0"/>
              <a:t>The study investigates how different processing methods - parallel and sequential processing - affect execution speed, energy usage, and overall efficiency in both monolithic and distributed AI architectures.</a:t>
            </a:r>
          </a:p>
          <a:p>
            <a:pPr marL="0" indent="0" eaLnBrk="0" fontAlgn="base" hangingPunct="0">
              <a:lnSpc>
                <a:spcPct val="100000"/>
              </a:lnSpc>
              <a:spcBef>
                <a:spcPct val="0"/>
              </a:spcBef>
              <a:spcAft>
                <a:spcPct val="0"/>
              </a:spcAft>
              <a:buClrTx/>
              <a:buSzTx/>
              <a:buFontTx/>
              <a:buChar char="•"/>
            </a:pPr>
            <a:endParaRPr lang="en-US" altLang="en-US" sz="1600" dirty="0">
              <a:solidFill>
                <a:schemeClr val="tx1"/>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42e7a972ef_1_18"/>
          <p:cNvSpPr txBox="1">
            <a:spLocks noGrp="1"/>
          </p:cNvSpPr>
          <p:nvPr>
            <p:ph type="title"/>
          </p:nvPr>
        </p:nvSpPr>
        <p:spPr>
          <a:xfrm>
            <a:off x="466344" y="0"/>
            <a:ext cx="5486100" cy="914100"/>
          </a:xfrm>
          <a:prstGeom prst="rect">
            <a:avLst/>
          </a:prstGeom>
        </p:spPr>
        <p:txBody>
          <a:bodyPr spcFirstLastPara="1" wrap="square" lIns="0" tIns="0" rIns="0" bIns="0" anchor="ctr" anchorCtr="0">
            <a:noAutofit/>
          </a:bodyPr>
          <a:lstStyle/>
          <a:p>
            <a:r>
              <a:rPr lang="en-US" sz="3200" b="1" dirty="0">
                <a:latin typeface="Times New Roman" panose="02020603050405020304" pitchFamily="18" charset="0"/>
                <a:cs typeface="Times New Roman" panose="02020603050405020304" pitchFamily="18" charset="0"/>
              </a:rPr>
              <a:t>Core Concept</a:t>
            </a:r>
            <a:endParaRPr sz="32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CC0F67B3-79A0-FFE1-6EB0-C0C3FCDBFCD5}"/>
              </a:ext>
            </a:extLst>
          </p:cNvPr>
          <p:cNvSpPr>
            <a:spLocks noChangeArrowheads="1"/>
          </p:cNvSpPr>
          <p:nvPr/>
        </p:nvSpPr>
        <p:spPr bwMode="auto">
          <a:xfrm>
            <a:off x="466344" y="914100"/>
            <a:ext cx="1011326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600" dirty="0"/>
              <a:t>The central idea of this research is to analyze how AI architectures influence computational efficiency and energy consumption. The study compares two major AI approaches: monolithic systems and multi-agent systems.</a:t>
            </a:r>
            <a:br>
              <a:rPr lang="en-US" sz="1600" dirty="0"/>
            </a:br>
            <a:endParaRPr lang="en-US" sz="1600" dirty="0"/>
          </a:p>
          <a:p>
            <a:pPr marL="285750" indent="-285750">
              <a:buFont typeface="Arial" panose="020B0604020202020204" pitchFamily="34" charset="0"/>
              <a:buChar char="•"/>
            </a:pPr>
            <a:r>
              <a:rPr lang="en-US" sz="1600" dirty="0"/>
              <a:t>In a monolithic system, a single model handles the entire workflow internally. This reduces communication overhead and enables faster execution for straightforward tasks. However, as task complexity increases, monolithic systems struggle with scalability and maintaining reasoning accuracy over multiple stages.</a:t>
            </a:r>
            <a:br>
              <a:rPr lang="en-US" sz="1600" dirty="0"/>
            </a:br>
            <a:endParaRPr lang="en-US" sz="1600" dirty="0"/>
          </a:p>
          <a:p>
            <a:pPr marL="285750" indent="-285750">
              <a:buFont typeface="Arial" panose="020B0604020202020204" pitchFamily="34" charset="0"/>
              <a:buChar char="•"/>
            </a:pPr>
            <a:r>
              <a:rPr lang="en-US" sz="1600" dirty="0"/>
              <a:t>In contrast, multi-agent systems divide work among several specialized agents. Each agent performs a dedicated function, such as planning, verification, analysis, or refinement. This collaborative structure improves flexibility, modularity, and problem-solving quality for complex tasks.</a:t>
            </a:r>
            <a:br>
              <a:rPr lang="en-US" sz="1600" dirty="0"/>
            </a:br>
            <a:endParaRPr lang="en-US" sz="1600" dirty="0"/>
          </a:p>
          <a:p>
            <a:pPr marL="285750" indent="-285750">
              <a:buFont typeface="Arial" panose="020B0604020202020204" pitchFamily="34" charset="0"/>
              <a:buChar char="•"/>
            </a:pPr>
            <a:r>
              <a:rPr lang="en-US" sz="1600" dirty="0"/>
              <a:t>The study also examines two processing techniques:</a:t>
            </a:r>
          </a:p>
          <a:p>
            <a:r>
              <a:rPr lang="en-US" sz="1600" dirty="0"/>
              <a:t>     - Parallel Processing - multiple agents work simultaneously </a:t>
            </a:r>
          </a:p>
          <a:p>
            <a:r>
              <a:rPr lang="en-US" sz="1600" dirty="0"/>
              <a:t>     - Sequential Processing - agents execute tasks one after another </a:t>
            </a:r>
            <a:br>
              <a:rPr lang="en-US" sz="1600" dirty="0"/>
            </a:br>
            <a:endParaRPr lang="en-US" sz="1600" dirty="0"/>
          </a:p>
          <a:p>
            <a:pPr marL="285750" indent="-285750">
              <a:buFont typeface="Arial" panose="020B0604020202020204" pitchFamily="34" charset="0"/>
              <a:buChar char="•"/>
            </a:pPr>
            <a:r>
              <a:rPr lang="en-US" sz="1600" dirty="0"/>
              <a:t>Parallel processing reduces execution time but consumes more energy due to simultaneous computation and synchronization. Sequential processing improves coordination and stability but increases total execution time.</a:t>
            </a:r>
            <a:br>
              <a:rPr lang="en-US" sz="1600" dirty="0"/>
            </a:br>
            <a:endParaRPr lang="en-US" sz="1600" dirty="0"/>
          </a:p>
          <a:p>
            <a:pPr marL="285750" indent="-285750">
              <a:buFont typeface="Arial" panose="020B0604020202020204" pitchFamily="34" charset="0"/>
              <a:buChar char="•"/>
            </a:pPr>
            <a:r>
              <a:rPr lang="en-US" sz="1600" dirty="0"/>
              <a:t>The research demonstrates that selecting the correct architecture and processing method based on task complexity is essential for achieving a balance between performance and sustainability.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42e7a972ef_1_25"/>
          <p:cNvSpPr txBox="1">
            <a:spLocks noGrp="1"/>
          </p:cNvSpPr>
          <p:nvPr>
            <p:ph type="title"/>
          </p:nvPr>
        </p:nvSpPr>
        <p:spPr>
          <a:xfrm>
            <a:off x="484632" y="-75299"/>
            <a:ext cx="5733600" cy="502623"/>
          </a:xfrm>
          <a:prstGeom prst="rect">
            <a:avLst/>
          </a:prstGeom>
        </p:spPr>
        <p:txBody>
          <a:bodyPr spcFirstLastPara="1" wrap="square" lIns="0" tIns="0" rIns="0" bIns="0" anchor="ctr" anchorCtr="0">
            <a:noAutofit/>
          </a:bodyPr>
          <a:lstStyle/>
          <a:p>
            <a:pPr indent="457189"/>
            <a:endParaRPr sz="3200" dirty="0">
              <a:latin typeface="Times New Roman" panose="02020603050405020304" pitchFamily="18" charset="0"/>
              <a:cs typeface="Times New Roman" panose="02020603050405020304" pitchFamily="18" charset="0"/>
            </a:endParaRPr>
          </a:p>
          <a:p>
            <a:pPr>
              <a:defRPr sz="2800" b="1">
                <a:latin typeface="Arial"/>
              </a:defRPr>
            </a:pPr>
            <a:r>
              <a:rPr lang="en-IN" sz="3200" dirty="0">
                <a:latin typeface="Times New Roman" panose="02020603050405020304" pitchFamily="18" charset="0"/>
                <a:cs typeface="Times New Roman" panose="02020603050405020304" pitchFamily="18" charset="0"/>
              </a:rPr>
              <a:t>Literature Review </a:t>
            </a:r>
            <a:endParaRPr sz="3200" dirty="0">
              <a:latin typeface="Times New Roman" panose="02020603050405020304" pitchFamily="18" charset="0"/>
              <a:cs typeface="Times New Roman" panose="02020603050405020304" pitchFamily="18" charset="0"/>
            </a:endParaRPr>
          </a:p>
        </p:txBody>
      </p:sp>
      <p:sp>
        <p:nvSpPr>
          <p:cNvPr id="125" name="Google Shape;125;g342e7a972ef_1_25"/>
          <p:cNvSpPr txBox="1">
            <a:spLocks noGrp="1"/>
          </p:cNvSpPr>
          <p:nvPr>
            <p:ph type="subTitle" idx="1"/>
          </p:nvPr>
        </p:nvSpPr>
        <p:spPr>
          <a:xfrm>
            <a:off x="1983319" y="5604933"/>
            <a:ext cx="7440083" cy="1371600"/>
          </a:xfrm>
          <a:prstGeom prst="rect">
            <a:avLst/>
          </a:prstGeom>
        </p:spPr>
        <p:txBody>
          <a:bodyPr spcFirstLastPara="1" wrap="square" lIns="0" tIns="0" rIns="0" bIns="0" anchor="ctr" anchorCtr="0">
            <a:noAutofit/>
          </a:bodyPr>
          <a:lstStyle/>
          <a:p>
            <a:pPr marL="0" indent="0">
              <a:lnSpc>
                <a:spcPct val="115000"/>
              </a:lnSpc>
              <a:spcBef>
                <a:spcPts val="1200"/>
              </a:spcBef>
              <a:buSzPts val="1100"/>
              <a:buNone/>
            </a:pPr>
            <a:br>
              <a:rPr dirty="0"/>
            </a:br>
            <a:r>
              <a:rPr lang="en-US" dirty="0"/>
              <a:t>    </a:t>
            </a:r>
            <a:br>
              <a:rPr dirty="0"/>
            </a:br>
            <a:br>
              <a:rPr sz="2400" dirty="0"/>
            </a:br>
            <a:br>
              <a:rPr sz="2400" dirty="0"/>
            </a:br>
            <a:endParaRPr dirty="0"/>
          </a:p>
        </p:txBody>
      </p:sp>
      <p:sp>
        <p:nvSpPr>
          <p:cNvPr id="3" name="Rectangle 2">
            <a:extLst>
              <a:ext uri="{FF2B5EF4-FFF2-40B4-BE49-F238E27FC236}">
                <a16:creationId xmlns:a16="http://schemas.microsoft.com/office/drawing/2014/main" id="{AE3717DB-2894-49D8-56E0-FEE3B69AEB29}"/>
              </a:ext>
            </a:extLst>
          </p:cNvPr>
          <p:cNvSpPr>
            <a:spLocks noChangeArrowheads="1"/>
          </p:cNvSpPr>
          <p:nvPr/>
        </p:nvSpPr>
        <p:spPr bwMode="auto">
          <a:xfrm>
            <a:off x="484632" y="987246"/>
            <a:ext cx="9912096"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600" dirty="0"/>
              <a:t>Earlier research in artificial intelligence mainly focused on improving the reasoning capability and accuracy of large monolithic models such as GPT-based systems and LLAMA architectures. These models achieved remarkable performance but required enormous computational resources and energy consumption.</a:t>
            </a:r>
            <a:br>
              <a:rPr lang="en-US" sz="1600" dirty="0"/>
            </a:br>
            <a:endParaRPr lang="en-US" sz="1600" dirty="0"/>
          </a:p>
          <a:p>
            <a:pPr marL="285750" indent="-285750">
              <a:buFont typeface="Arial" panose="020B0604020202020204" pitchFamily="34" charset="0"/>
              <a:buChar char="•"/>
            </a:pPr>
            <a:r>
              <a:rPr lang="en-US" sz="1600" dirty="0"/>
              <a:t>To address these concerns, researchers introduced the concept of Green AI, which emphasizes reducing the environmental impact of artificial intelligence systems. Green AI promotes energy-efficient model design and sustainable computational practices. Technologies such as </a:t>
            </a:r>
            <a:r>
              <a:rPr lang="en-US" sz="1600" dirty="0" err="1"/>
              <a:t>CodeCarbon</a:t>
            </a:r>
            <a:r>
              <a:rPr lang="en-US" sz="1600" dirty="0"/>
              <a:t> and Carbon Tracker were developed to monitor energy usage and carbon emissions during AI execution.</a:t>
            </a:r>
            <a:br>
              <a:rPr lang="en-US" sz="1600" dirty="0"/>
            </a:br>
            <a:endParaRPr lang="en-US" sz="1600" dirty="0"/>
          </a:p>
          <a:p>
            <a:pPr marL="285750" indent="-285750">
              <a:buFont typeface="Arial" panose="020B0604020202020204" pitchFamily="34" charset="0"/>
              <a:buChar char="•"/>
            </a:pPr>
            <a:r>
              <a:rPr lang="en-US" sz="1600" dirty="0"/>
              <a:t>At the same time, multi-agent systems gained attention because of their modular design and collaborative problem-solving capabilities. These systems distribute tasks among specialized agents, enabling improved scalability, flexibility, and accuracy for complex workflows.</a:t>
            </a:r>
            <a:br>
              <a:rPr lang="en-US" sz="1600" dirty="0"/>
            </a:br>
            <a:endParaRPr lang="en-US" sz="1600" dirty="0"/>
          </a:p>
          <a:p>
            <a:pPr marL="285750" indent="-285750">
              <a:buFont typeface="Arial" panose="020B0604020202020204" pitchFamily="34" charset="0"/>
              <a:buChar char="•"/>
            </a:pPr>
            <a:r>
              <a:rPr lang="en-US" sz="1600" dirty="0"/>
              <a:t>However, many existing studies primarily focus on improving performance while overlooking the energy cost associated with inter-agent communication. Communication overhead, synchronization delays, and data transfer between agents increase energy consumption significantly, especially during parallel execution.</a:t>
            </a:r>
            <a:br>
              <a:rPr lang="en-US" sz="1600" dirty="0"/>
            </a:br>
            <a:endParaRPr lang="en-US" sz="1600" dirty="0"/>
          </a:p>
          <a:p>
            <a:pPr marL="285750" indent="-285750">
              <a:buFont typeface="Arial" panose="020B0604020202020204" pitchFamily="34" charset="0"/>
              <a:buChar char="•"/>
            </a:pPr>
            <a:r>
              <a:rPr lang="en-US" sz="1600" dirty="0"/>
              <a:t>This research builds upon previous work in Green AI, distributed computing, and multi-agent collaboration to analyze the trade-off between computational efficiency and energy usage in modern AI systems.</a:t>
            </a:r>
          </a:p>
          <a:p>
            <a:pPr eaLnBrk="0" fontAlgn="base" hangingPunct="0">
              <a:spcBef>
                <a:spcPct val="0"/>
              </a:spcBef>
              <a:spcAft>
                <a:spcPct val="0"/>
              </a:spcAft>
              <a:buClrTx/>
              <a:buFontTx/>
              <a:buChar char="•"/>
            </a:pP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8" name="Title 7">
            <a:extLst>
              <a:ext uri="{FF2B5EF4-FFF2-40B4-BE49-F238E27FC236}">
                <a16:creationId xmlns:a16="http://schemas.microsoft.com/office/drawing/2014/main" id="{7C64DD3E-73C8-7E89-B614-EA824226C2A5}"/>
              </a:ext>
            </a:extLst>
          </p:cNvPr>
          <p:cNvSpPr>
            <a:spLocks noGrp="1"/>
          </p:cNvSpPr>
          <p:nvPr>
            <p:ph type="title"/>
          </p:nvPr>
        </p:nvSpPr>
        <p:spPr>
          <a:xfrm>
            <a:off x="374904" y="0"/>
            <a:ext cx="7314720" cy="914040"/>
          </a:xfrm>
        </p:spPr>
        <p:txBody>
          <a:bodyPr/>
          <a:lstStyle/>
          <a:p>
            <a:r>
              <a:rPr lang="en-US" sz="3200" b="1" dirty="0">
                <a:latin typeface="Times New Roman" panose="02020603050405020304" pitchFamily="18" charset="0"/>
                <a:cs typeface="Times New Roman" panose="02020603050405020304" pitchFamily="18" charset="0"/>
              </a:rPr>
              <a:t>Methodology</a:t>
            </a:r>
            <a:endParaRPr lang="en-IN"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A3F2F5A-BABF-3CCD-5C0A-DF645973792F}"/>
                  </a:ext>
                </a:extLst>
              </p:cNvPr>
              <p:cNvSpPr txBox="1"/>
              <p:nvPr/>
            </p:nvSpPr>
            <p:spPr>
              <a:xfrm>
                <a:off x="601599" y="1056924"/>
                <a:ext cx="10003536" cy="5478423"/>
              </a:xfrm>
              <a:prstGeom prst="rect">
                <a:avLst/>
              </a:prstGeom>
              <a:noFill/>
            </p:spPr>
            <p:txBody>
              <a:bodyPr wrap="square">
                <a:spAutoFit/>
              </a:bodyPr>
              <a:lstStyle/>
              <a:p>
                <a:pPr marL="285750" indent="-285750">
                  <a:buFont typeface="Arial" panose="020B0604020202020204" pitchFamily="34" charset="0"/>
                  <a:buChar char="•"/>
                </a:pPr>
                <a:r>
                  <a:rPr lang="en-US" sz="1600" dirty="0"/>
                  <a:t>The methodology of this research is based on controlled experiments designed to compare monolithic and multi-agent AI systems using parallel and sequential processing methods.</a:t>
                </a:r>
                <a:br>
                  <a:rPr lang="en-US" sz="1600" dirty="0"/>
                </a:br>
                <a:endParaRPr lang="en-US" sz="1600" dirty="0"/>
              </a:p>
              <a:p>
                <a:pPr marL="285750" indent="-285750">
                  <a:buFont typeface="Arial" panose="020B0604020202020204" pitchFamily="34" charset="0"/>
                  <a:buChar char="•"/>
                </a:pPr>
                <a:r>
                  <a:rPr lang="en-US" sz="1600" dirty="0"/>
                  <a:t>Two major AI configurations were tested:</a:t>
                </a:r>
              </a:p>
              <a:p>
                <a:r>
                  <a:rPr lang="en-US" sz="1600" dirty="0"/>
                  <a:t>    - Monolithic AI Architecture </a:t>
                </a:r>
              </a:p>
              <a:p>
                <a:r>
                  <a:rPr lang="en-US" sz="1600" dirty="0"/>
                  <a:t>    - Multi-Agent AI  </a:t>
                </a:r>
                <a:br>
                  <a:rPr lang="en-US" sz="1600" dirty="0"/>
                </a:br>
                <a:endParaRPr lang="en-US" sz="1600" dirty="0"/>
              </a:p>
              <a:p>
                <a:pPr marL="285750" indent="-285750">
                  <a:buFont typeface="Arial" panose="020B0604020202020204" pitchFamily="34" charset="0"/>
                  <a:buChar char="•"/>
                </a:pPr>
                <a:r>
                  <a:rPr lang="en-US" sz="1600" dirty="0"/>
                  <a:t>Each configuration was evaluated using both parallel and sequential execution strategies. Tasks were divided into two categories:</a:t>
                </a:r>
              </a:p>
              <a:p>
                <a:r>
                  <a:rPr lang="en-US" sz="1600" dirty="0"/>
                  <a:t>     - Simple Tasks — low-complexity operations requiring minimal coordination </a:t>
                </a:r>
              </a:p>
              <a:p>
                <a:r>
                  <a:rPr lang="en-US" sz="1600" dirty="0"/>
                  <a:t>     - Complex Tasks — multi-step workflows requiring collaboration and reasoning </a:t>
                </a:r>
                <a:br>
                  <a:rPr lang="en-US" sz="1600" dirty="0"/>
                </a:br>
                <a:endParaRPr lang="en-US" sz="1600" dirty="0"/>
              </a:p>
              <a:p>
                <a:pPr marL="285750" indent="-285750">
                  <a:buFont typeface="Arial" panose="020B0604020202020204" pitchFamily="34" charset="0"/>
                  <a:buChar char="•"/>
                </a:pPr>
                <a:r>
                  <a:rPr lang="en-US" sz="1600" dirty="0"/>
                  <a:t>Energy consumption was calculated using the formula:</a:t>
                </a:r>
              </a:p>
              <a:p>
                <a14:m>
                  <m:oMathPara xmlns:m="http://schemas.openxmlformats.org/officeDocument/2006/math">
                    <m:oMathParaPr>
                      <m:jc m:val="centerGroup"/>
                    </m:oMathParaPr>
                    <m:oMath xmlns:m="http://schemas.openxmlformats.org/officeDocument/2006/math">
                      <m:r>
                        <a:rPr lang="en-US" i="1"/>
                        <m:t>𝐸</m:t>
                      </m:r>
                      <m:r>
                        <a:rPr lang="en-US"/>
                        <m:t>=</m:t>
                      </m:r>
                      <m:r>
                        <a:rPr lang="en-US" i="1"/>
                        <m:t>𝑃</m:t>
                      </m:r>
                      <m:r>
                        <a:rPr lang="en-US"/>
                        <m:t>×</m:t>
                      </m:r>
                      <m:r>
                        <a:rPr lang="en-US" i="1"/>
                        <m:t>𝑇</m:t>
                      </m:r>
                    </m:oMath>
                  </m:oMathPara>
                </a14:m>
                <a:endParaRPr lang="en-US" sz="1600" dirty="0"/>
              </a:p>
              <a:p>
                <a:r>
                  <a:rPr lang="en-US" sz="1600" dirty="0"/>
                  <a:t>     Where:</a:t>
                </a:r>
              </a:p>
              <a:p>
                <a:r>
                  <a:rPr lang="en-US" sz="1600" dirty="0"/>
                  <a:t>     E = Energy Consumption </a:t>
                </a:r>
                <a:br>
                  <a:rPr lang="en-US" sz="1600" dirty="0"/>
                </a:br>
                <a:r>
                  <a:rPr lang="en-US" sz="1600" dirty="0"/>
                  <a:t>     P = Average Power Consumption </a:t>
                </a:r>
                <a:br>
                  <a:rPr lang="en-US" sz="1600" dirty="0"/>
                </a:br>
                <a:r>
                  <a:rPr lang="en-US" sz="1600" dirty="0"/>
                  <a:t>     T = Execution Time</a:t>
                </a:r>
                <a:br>
                  <a:rPr lang="en-US" sz="1600" dirty="0"/>
                </a:br>
                <a:endParaRPr lang="en-US" sz="1600" dirty="0"/>
              </a:p>
              <a:p>
                <a:pPr marL="285750" indent="-285750">
                  <a:buFont typeface="Arial" panose="020B0604020202020204" pitchFamily="34" charset="0"/>
                  <a:buChar char="•"/>
                </a:pPr>
                <a:r>
                  <a:rPr lang="en-US" sz="1600" dirty="0"/>
                  <a:t>Multiple trials were performed for each experimental setup to ensure reliability and statistical consistency. The collected data was analyzed using performance metrics such as runtime, energy usage, coordination overhead, and computational efficiency.</a:t>
                </a:r>
              </a:p>
            </p:txBody>
          </p:sp>
        </mc:Choice>
        <mc:Fallback>
          <p:sp>
            <p:nvSpPr>
              <p:cNvPr id="10" name="TextBox 9">
                <a:extLst>
                  <a:ext uri="{FF2B5EF4-FFF2-40B4-BE49-F238E27FC236}">
                    <a16:creationId xmlns:a16="http://schemas.microsoft.com/office/drawing/2014/main" id="{2A3F2F5A-BABF-3CCD-5C0A-DF645973792F}"/>
                  </a:ext>
                </a:extLst>
              </p:cNvPr>
              <p:cNvSpPr txBox="1">
                <a:spLocks noRot="1" noChangeAspect="1" noMove="1" noResize="1" noEditPoints="1" noAdjustHandles="1" noChangeArrowheads="1" noChangeShapeType="1" noTextEdit="1"/>
              </p:cNvSpPr>
              <p:nvPr/>
            </p:nvSpPr>
            <p:spPr>
              <a:xfrm>
                <a:off x="601599" y="1056924"/>
                <a:ext cx="10003536" cy="5478423"/>
              </a:xfrm>
              <a:prstGeom prst="rect">
                <a:avLst/>
              </a:prstGeom>
              <a:blipFill>
                <a:blip r:embed="rId3"/>
                <a:stretch>
                  <a:fillRect l="-244" t="-334" r="-853" b="-445"/>
                </a:stretch>
              </a:blipFill>
            </p:spPr>
            <p:txBody>
              <a:bodyPr/>
              <a:lstStyle/>
              <a:p>
                <a:r>
                  <a:rPr lang="en-IN">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D4D5-CC59-FA29-FB4A-062BFCEB95F1}"/>
              </a:ext>
            </a:extLst>
          </p:cNvPr>
          <p:cNvSpPr>
            <a:spLocks noGrp="1"/>
          </p:cNvSpPr>
          <p:nvPr>
            <p:ph type="title"/>
          </p:nvPr>
        </p:nvSpPr>
        <p:spPr>
          <a:xfrm>
            <a:off x="393192" y="-66675"/>
            <a:ext cx="6115051" cy="914040"/>
          </a:xfrm>
        </p:spPr>
        <p:txBody>
          <a:bodyPr/>
          <a:lstStyle/>
          <a:p>
            <a:r>
              <a:rPr lang="en-US" sz="3200" b="1" dirty="0">
                <a:latin typeface="Times New Roman" panose="02020603050405020304" pitchFamily="18" charset="0"/>
                <a:cs typeface="Times New Roman" panose="02020603050405020304" pitchFamily="18" charset="0"/>
              </a:rPr>
              <a:t>System Architecture</a:t>
            </a:r>
            <a:endParaRPr lang="en-IN"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F07FC91-63A4-FF45-2924-4DFC7AB6B0F6}"/>
              </a:ext>
            </a:extLst>
          </p:cNvPr>
          <p:cNvSpPr txBox="1"/>
          <p:nvPr/>
        </p:nvSpPr>
        <p:spPr>
          <a:xfrm>
            <a:off x="393192" y="1080367"/>
            <a:ext cx="9985248" cy="5509200"/>
          </a:xfrm>
          <a:prstGeom prst="rect">
            <a:avLst/>
          </a:prstGeom>
          <a:noFill/>
        </p:spPr>
        <p:txBody>
          <a:bodyPr wrap="square">
            <a:spAutoFit/>
          </a:bodyPr>
          <a:lstStyle/>
          <a:p>
            <a:pPr marL="285750" indent="-285750">
              <a:buFont typeface="Arial" panose="020B0604020202020204" pitchFamily="34" charset="0"/>
              <a:buChar char="•"/>
            </a:pPr>
            <a:r>
              <a:rPr lang="en-US" sz="1600" dirty="0"/>
              <a:t>The system architecture is designed to evaluate the performance and efficiency of different AI configurations under controlled experimental conditions.</a:t>
            </a:r>
            <a:br>
              <a:rPr lang="en-US" sz="1600" dirty="0"/>
            </a:br>
            <a:endParaRPr lang="en-US" sz="1600" dirty="0"/>
          </a:p>
          <a:p>
            <a:pPr marL="285750" indent="-285750">
              <a:buFont typeface="Arial" panose="020B0604020202020204" pitchFamily="34" charset="0"/>
              <a:buChar char="•"/>
            </a:pPr>
            <a:r>
              <a:rPr lang="en-US" sz="1600" dirty="0"/>
              <a:t>The process begins with the Task Input Module, which accepts tasks of varying complexity, ranging from simple text generation to complex multi-step workflows such as software development and reasoning tasks.</a:t>
            </a:r>
            <a:br>
              <a:rPr lang="en-US" sz="1600" dirty="0"/>
            </a:br>
            <a:endParaRPr lang="en-US" sz="1600" dirty="0"/>
          </a:p>
          <a:p>
            <a:pPr marL="285750" indent="-285750">
              <a:buFont typeface="Arial" panose="020B0604020202020204" pitchFamily="34" charset="0"/>
              <a:buChar char="•"/>
            </a:pPr>
            <a:r>
              <a:rPr lang="en-US" sz="1600" dirty="0"/>
              <a:t>The Decision Engine analyzes the complexity of the task and determines whether it should be executed using a monolithic model or a multi-agent architecture. This decision depends on factors such as computational cost, task requirements, and resource availability.</a:t>
            </a:r>
            <a:br>
              <a:rPr lang="en-US" sz="1600" dirty="0"/>
            </a:br>
            <a:endParaRPr lang="en-US" sz="1600" dirty="0"/>
          </a:p>
          <a:p>
            <a:pPr marL="285750" indent="-285750">
              <a:buFont typeface="Arial" panose="020B0604020202020204" pitchFamily="34" charset="0"/>
              <a:buChar char="•"/>
            </a:pPr>
            <a:r>
              <a:rPr lang="en-US" sz="1600" dirty="0"/>
              <a:t>In the Processing Module, tasks are either handled entirely by a monolithic model or divided among multiple specialized agents. In the multi-agent approach, tasks are distributed into subtasks assigned to different agents.</a:t>
            </a:r>
            <a:br>
              <a:rPr lang="en-US" sz="1600" dirty="0"/>
            </a:br>
            <a:endParaRPr lang="en-US" sz="1600" dirty="0"/>
          </a:p>
          <a:p>
            <a:pPr marL="285750" indent="-285750">
              <a:buFont typeface="Arial" panose="020B0604020202020204" pitchFamily="34" charset="0"/>
              <a:buChar char="•"/>
            </a:pPr>
            <a:r>
              <a:rPr lang="en-US" sz="1600" dirty="0"/>
              <a:t>The Communication Module manages the exchange of intermediate results, synchronization data, and coordination messages among agents. This communication process contributes to additional energy consumption known as the energy tax.</a:t>
            </a:r>
            <a:br>
              <a:rPr lang="en-US" sz="1600" dirty="0"/>
            </a:br>
            <a:endParaRPr lang="en-US" sz="1600" dirty="0"/>
          </a:p>
          <a:p>
            <a:pPr marL="285750" indent="-285750">
              <a:buFont typeface="Arial" panose="020B0604020202020204" pitchFamily="34" charset="0"/>
              <a:buChar char="•"/>
            </a:pPr>
            <a:r>
              <a:rPr lang="en-US" sz="1600" dirty="0"/>
              <a:t>The Monitoring and Analysis Module records execution metrics including CPU usage, GPU utilization, runtime, and energy consumption using </a:t>
            </a:r>
            <a:r>
              <a:rPr lang="en-US" sz="1600" dirty="0" err="1"/>
              <a:t>CodeCarbon</a:t>
            </a:r>
            <a:r>
              <a:rPr lang="en-US" sz="1600" dirty="0"/>
              <a:t> technology. These metrics are then analyzed to compare system performance across different processing strategies.</a:t>
            </a:r>
          </a:p>
        </p:txBody>
      </p:sp>
    </p:spTree>
    <p:extLst>
      <p:ext uri="{BB962C8B-B14F-4D97-AF65-F5344CB8AC3E}">
        <p14:creationId xmlns:p14="http://schemas.microsoft.com/office/powerpoint/2010/main" val="2371828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FFCA-0CA4-F439-7FDE-D1F35E390C21}"/>
              </a:ext>
            </a:extLst>
          </p:cNvPr>
          <p:cNvSpPr>
            <a:spLocks noGrp="1"/>
          </p:cNvSpPr>
          <p:nvPr>
            <p:ph type="title"/>
          </p:nvPr>
        </p:nvSpPr>
        <p:spPr>
          <a:xfrm>
            <a:off x="353537" y="0"/>
            <a:ext cx="6305551" cy="914040"/>
          </a:xfrm>
        </p:spPr>
        <p:txBody>
          <a:bodyPr/>
          <a:lstStyle/>
          <a:p>
            <a:r>
              <a:rPr lang="en-US" sz="3200" b="1" dirty="0">
                <a:latin typeface="Times New Roman" panose="02020603050405020304" pitchFamily="18" charset="0"/>
                <a:cs typeface="Times New Roman" panose="02020603050405020304" pitchFamily="18" charset="0"/>
              </a:rPr>
              <a:t>Results- Carbon Reduction</a:t>
            </a:r>
            <a:endParaRPr lang="en-IN" sz="32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E5B6FB8-AC02-D5D5-A8F8-39917F4C1DEA}"/>
              </a:ext>
            </a:extLst>
          </p:cNvPr>
          <p:cNvSpPr>
            <a:spLocks noChangeArrowheads="1"/>
          </p:cNvSpPr>
          <p:nvPr/>
        </p:nvSpPr>
        <p:spPr bwMode="auto">
          <a:xfrm>
            <a:off x="353537" y="1037159"/>
            <a:ext cx="1040363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600" dirty="0">
                <a:latin typeface="+mn-lt"/>
                <a:cs typeface="Times New Roman" panose="02020603050405020304" pitchFamily="18" charset="0"/>
              </a:rPr>
              <a:t>The experimental findings reveal important differences between monolithic and multi-agent AI systems.</a:t>
            </a:r>
            <a:br>
              <a:rPr lang="en-US" sz="1600" dirty="0">
                <a:latin typeface="+mn-lt"/>
                <a:cs typeface="Times New Roman" panose="02020603050405020304" pitchFamily="18" charset="0"/>
              </a:rPr>
            </a:br>
            <a:endParaRPr lang="en-US" sz="1600" dirty="0">
              <a:latin typeface="+mn-lt"/>
              <a:cs typeface="Times New Roman" panose="02020603050405020304" pitchFamily="18" charset="0"/>
            </a:endParaRPr>
          </a:p>
          <a:p>
            <a:pPr marL="285750" indent="-285750">
              <a:buFont typeface="Arial" panose="020B0604020202020204" pitchFamily="34" charset="0"/>
              <a:buChar char="•"/>
            </a:pPr>
            <a:r>
              <a:rPr lang="en-US" sz="1600" dirty="0">
                <a:latin typeface="+mn-lt"/>
                <a:cs typeface="Times New Roman" panose="02020603050405020304" pitchFamily="18" charset="0"/>
              </a:rPr>
              <a:t>For low-complexity tasks, monolithic systems achieved better performance because they avoided coordination overhead and completed tasks faster with lower energy consumption. Multi-agent systems consumed additional energy due to communication between agents, even when using sequential execution.</a:t>
            </a:r>
            <a:br>
              <a:rPr lang="en-US" sz="1600" dirty="0">
                <a:latin typeface="+mn-lt"/>
                <a:cs typeface="Times New Roman" panose="02020603050405020304" pitchFamily="18" charset="0"/>
              </a:rPr>
            </a:br>
            <a:endParaRPr lang="en-US" sz="1600" dirty="0">
              <a:latin typeface="+mn-lt"/>
              <a:cs typeface="Times New Roman" panose="02020603050405020304" pitchFamily="18" charset="0"/>
            </a:endParaRPr>
          </a:p>
          <a:p>
            <a:pPr marL="285750" indent="-285750">
              <a:buFont typeface="Arial" panose="020B0604020202020204" pitchFamily="34" charset="0"/>
              <a:buChar char="•"/>
            </a:pPr>
            <a:r>
              <a:rPr lang="en-US" sz="1600" dirty="0">
                <a:latin typeface="+mn-lt"/>
                <a:cs typeface="Times New Roman" panose="02020603050405020304" pitchFamily="18" charset="0"/>
              </a:rPr>
              <a:t>For medium-complexity tasks, both architectures produced acceptable results, but multi-agent systems generated more reliable and refined outputs because specialized agents could verify and improve intermediate results.</a:t>
            </a:r>
            <a:br>
              <a:rPr lang="en-US" sz="1600" dirty="0">
                <a:latin typeface="+mn-lt"/>
                <a:cs typeface="Times New Roman" panose="02020603050405020304" pitchFamily="18" charset="0"/>
              </a:rPr>
            </a:br>
            <a:endParaRPr lang="en-US" sz="1600" dirty="0">
              <a:latin typeface="+mn-lt"/>
              <a:cs typeface="Times New Roman" panose="02020603050405020304" pitchFamily="18" charset="0"/>
            </a:endParaRPr>
          </a:p>
          <a:p>
            <a:pPr marL="285750" indent="-285750">
              <a:buFont typeface="Arial" panose="020B0604020202020204" pitchFamily="34" charset="0"/>
              <a:buChar char="•"/>
            </a:pPr>
            <a:r>
              <a:rPr lang="en-US" sz="1600" dirty="0">
                <a:latin typeface="+mn-lt"/>
                <a:cs typeface="Times New Roman" panose="02020603050405020304" pitchFamily="18" charset="0"/>
              </a:rPr>
              <a:t>For high-complexity tasks, multi-agent systems significantly outperformed monolithic systems in terms of accuracy, reliability, and iterative reasoning capabilities. The collaborative structure enabled better handling of multi-stage workflows and error correction processes.</a:t>
            </a:r>
            <a:br>
              <a:rPr lang="en-US" sz="1600" dirty="0">
                <a:latin typeface="+mn-lt"/>
                <a:cs typeface="Times New Roman" panose="02020603050405020304" pitchFamily="18" charset="0"/>
              </a:rPr>
            </a:br>
            <a:endParaRPr lang="en-US" sz="1600" dirty="0">
              <a:latin typeface="+mn-lt"/>
              <a:cs typeface="Times New Roman" panose="02020603050405020304" pitchFamily="18" charset="0"/>
            </a:endParaRPr>
          </a:p>
          <a:p>
            <a:pPr marL="285750" indent="-285750">
              <a:buFont typeface="Arial" panose="020B0604020202020204" pitchFamily="34" charset="0"/>
              <a:buChar char="•"/>
            </a:pPr>
            <a:r>
              <a:rPr lang="en-US" sz="1600" dirty="0">
                <a:latin typeface="+mn-lt"/>
                <a:cs typeface="Times New Roman" panose="02020603050405020304" pitchFamily="18" charset="0"/>
              </a:rPr>
              <a:t>However, the improvement in performance came at the cost of higher energy usage. Inter-agent communication created an “energy tax,” particularly during parallel execution, where simultaneous processing increased resource consumption.</a:t>
            </a:r>
            <a:br>
              <a:rPr lang="en-US" sz="1600" dirty="0">
                <a:latin typeface="+mn-lt"/>
                <a:cs typeface="Times New Roman" panose="02020603050405020304" pitchFamily="18" charset="0"/>
              </a:rPr>
            </a:br>
            <a:endParaRPr lang="en-US" sz="1600" dirty="0">
              <a:latin typeface="+mn-lt"/>
              <a:cs typeface="Times New Roman" panose="02020603050405020304" pitchFamily="18" charset="0"/>
            </a:endParaRPr>
          </a:p>
          <a:p>
            <a:pPr marL="285750" indent="-285750">
              <a:buFont typeface="Arial" panose="020B0604020202020204" pitchFamily="34" charset="0"/>
              <a:buChar char="•"/>
            </a:pPr>
            <a:r>
              <a:rPr lang="en-US" sz="1600" dirty="0">
                <a:latin typeface="+mn-lt"/>
                <a:cs typeface="Times New Roman" panose="02020603050405020304" pitchFamily="18" charset="0"/>
              </a:rPr>
              <a:t>The study concludes that monolithic systems are better suited for simple workloads, while multi-agent architectures are more effective for complex tasks despite their higher energy requirements.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mn-lt"/>
              <a:cs typeface="Times New Roman" panose="02020603050405020304" pitchFamily="18" charset="0"/>
            </a:endParaRPr>
          </a:p>
        </p:txBody>
      </p:sp>
    </p:spTree>
    <p:extLst>
      <p:ext uri="{BB962C8B-B14F-4D97-AF65-F5344CB8AC3E}">
        <p14:creationId xmlns:p14="http://schemas.microsoft.com/office/powerpoint/2010/main" val="3237844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FB192-5ACB-1199-7341-D0F8DAC12B04}"/>
              </a:ext>
            </a:extLst>
          </p:cNvPr>
          <p:cNvPicPr>
            <a:picLocks noChangeAspect="1"/>
          </p:cNvPicPr>
          <p:nvPr/>
        </p:nvPicPr>
        <p:blipFill>
          <a:blip r:embed="rId2"/>
          <a:stretch>
            <a:fillRect/>
          </a:stretch>
        </p:blipFill>
        <p:spPr>
          <a:xfrm>
            <a:off x="243828" y="1234435"/>
            <a:ext cx="5852172" cy="4389129"/>
          </a:xfrm>
          <a:prstGeom prst="rect">
            <a:avLst/>
          </a:prstGeom>
        </p:spPr>
      </p:pic>
      <p:pic>
        <p:nvPicPr>
          <p:cNvPr id="5" name="Picture 4">
            <a:extLst>
              <a:ext uri="{FF2B5EF4-FFF2-40B4-BE49-F238E27FC236}">
                <a16:creationId xmlns:a16="http://schemas.microsoft.com/office/drawing/2014/main" id="{AEEE5140-3BC4-901F-A2E4-1FD990BC2680}"/>
              </a:ext>
            </a:extLst>
          </p:cNvPr>
          <p:cNvPicPr>
            <a:picLocks noChangeAspect="1"/>
          </p:cNvPicPr>
          <p:nvPr/>
        </p:nvPicPr>
        <p:blipFill>
          <a:blip r:embed="rId3"/>
          <a:stretch>
            <a:fillRect/>
          </a:stretch>
        </p:blipFill>
        <p:spPr>
          <a:xfrm>
            <a:off x="6096000" y="1234435"/>
            <a:ext cx="5852172" cy="4389129"/>
          </a:xfrm>
          <a:prstGeom prst="rect">
            <a:avLst/>
          </a:prstGeom>
        </p:spPr>
      </p:pic>
      <p:sp>
        <p:nvSpPr>
          <p:cNvPr id="6" name="TextBox 5">
            <a:extLst>
              <a:ext uri="{FF2B5EF4-FFF2-40B4-BE49-F238E27FC236}">
                <a16:creationId xmlns:a16="http://schemas.microsoft.com/office/drawing/2014/main" id="{0177CF9C-68FB-1A1B-B21C-2EAE479BB9DE}"/>
              </a:ext>
            </a:extLst>
          </p:cNvPr>
          <p:cNvSpPr txBox="1"/>
          <p:nvPr/>
        </p:nvSpPr>
        <p:spPr>
          <a:xfrm>
            <a:off x="243828" y="91440"/>
            <a:ext cx="474573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Graph Demonstration</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7190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5898B-7D69-3A81-8A99-29ED35FC7AC0}"/>
              </a:ext>
            </a:extLst>
          </p:cNvPr>
          <p:cNvSpPr>
            <a:spLocks noGrp="1"/>
          </p:cNvSpPr>
          <p:nvPr>
            <p:ph type="title"/>
          </p:nvPr>
        </p:nvSpPr>
        <p:spPr>
          <a:xfrm>
            <a:off x="546735" y="0"/>
            <a:ext cx="7314720" cy="914040"/>
          </a:xfrm>
        </p:spPr>
        <p:txBody>
          <a:bodyPr/>
          <a:lstStyle/>
          <a:p>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BC2E7E47-05F1-86A0-038A-D416817DBB35}"/>
              </a:ext>
            </a:extLst>
          </p:cNvPr>
          <p:cNvSpPr>
            <a:spLocks noChangeArrowheads="1"/>
          </p:cNvSpPr>
          <p:nvPr/>
        </p:nvSpPr>
        <p:spPr bwMode="auto">
          <a:xfrm>
            <a:off x="546735" y="1158031"/>
            <a:ext cx="9886569"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600" dirty="0"/>
              <a:t>This research provides a comprehensive comparison between monolithic and multi-agent AI systems, focusing on the relationship between performance, energy consumption, and processing efficiency.</a:t>
            </a:r>
            <a:br>
              <a:rPr lang="en-US" sz="1600" dirty="0"/>
            </a:br>
            <a:endParaRPr lang="en-US" sz="1600" dirty="0"/>
          </a:p>
          <a:p>
            <a:pPr marL="285750" indent="-285750">
              <a:buFont typeface="Arial" panose="020B0604020202020204" pitchFamily="34" charset="0"/>
              <a:buChar char="•"/>
            </a:pPr>
            <a:r>
              <a:rPr lang="en-US" sz="1600" dirty="0"/>
              <a:t>The study demonstrates that monolithic systems are highly efficient for simple tasks because they eliminate communication overhead and achieve faster execution with lower energy usage.</a:t>
            </a:r>
            <a:br>
              <a:rPr lang="en-US" sz="1600" dirty="0"/>
            </a:br>
            <a:endParaRPr lang="en-US" sz="1600" dirty="0"/>
          </a:p>
          <a:p>
            <a:pPr marL="285750" indent="-285750">
              <a:buFont typeface="Arial" panose="020B0604020202020204" pitchFamily="34" charset="0"/>
              <a:buChar char="•"/>
            </a:pPr>
            <a:r>
              <a:rPr lang="en-US" sz="1600" dirty="0"/>
              <a:t>In contrast, multi-agent systems perform significantly better for complex tasks that require iterative reasoning, collaboration, validation, and refinement. Their distributed structure improves accuracy and reliability but introduces higher energy costs due to inter-agent communication.</a:t>
            </a:r>
            <a:br>
              <a:rPr lang="en-US" sz="1600" dirty="0"/>
            </a:br>
            <a:endParaRPr lang="en-US" sz="1600" dirty="0"/>
          </a:p>
          <a:p>
            <a:pPr marL="285750" indent="-285750">
              <a:buFont typeface="Arial" panose="020B0604020202020204" pitchFamily="34" charset="0"/>
              <a:buChar char="•"/>
            </a:pPr>
            <a:r>
              <a:rPr lang="en-US" sz="1600" dirty="0"/>
              <a:t>Parallel processing reduces execution time but increases energy consumption, whereas sequential processing improves coordination while increasing runtime.</a:t>
            </a:r>
            <a:br>
              <a:rPr lang="en-US" sz="1600" dirty="0"/>
            </a:br>
            <a:endParaRPr lang="en-US" sz="1600" dirty="0"/>
          </a:p>
          <a:p>
            <a:pPr marL="285750" indent="-285750">
              <a:buFont typeface="Arial" panose="020B0604020202020204" pitchFamily="34" charset="0"/>
              <a:buChar char="•"/>
            </a:pPr>
            <a:r>
              <a:rPr lang="en-US" sz="1600" dirty="0"/>
              <a:t>The findings emphasize the importance of balanced AI system design. Instead of relying exclusively on one architecture, future AI systems should adopt adaptive hybrid approaches capable of dynamically selecting the most efficient strategy according to task requirements.</a:t>
            </a:r>
            <a:br>
              <a:rPr lang="en-US" sz="1600" dirty="0"/>
            </a:br>
            <a:endParaRPr lang="en-US" sz="1600" dirty="0"/>
          </a:p>
          <a:p>
            <a:pPr marL="285750" indent="-285750">
              <a:buFont typeface="Arial" panose="020B0604020202020204" pitchFamily="34" charset="0"/>
              <a:buChar char="•"/>
            </a:pPr>
            <a:r>
              <a:rPr lang="en-US" sz="1600" dirty="0"/>
              <a:t>Overall, the research contributes valuable insights into sustainable AI and highlights the growing importance of balancing computational performance with environmental responsibility.</a:t>
            </a:r>
          </a:p>
        </p:txBody>
      </p:sp>
    </p:spTree>
    <p:extLst>
      <p:ext uri="{BB962C8B-B14F-4D97-AF65-F5344CB8AC3E}">
        <p14:creationId xmlns:p14="http://schemas.microsoft.com/office/powerpoint/2010/main" val="2394451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DA78F-E147-EA68-EB6B-9221B3C39359}"/>
              </a:ext>
            </a:extLst>
          </p:cNvPr>
          <p:cNvSpPr>
            <a:spLocks noGrp="1"/>
          </p:cNvSpPr>
          <p:nvPr>
            <p:ph type="title"/>
          </p:nvPr>
        </p:nvSpPr>
        <p:spPr>
          <a:xfrm>
            <a:off x="630936" y="0"/>
            <a:ext cx="7314720" cy="914040"/>
          </a:xfrm>
        </p:spPr>
        <p:txBody>
          <a:bodyPr/>
          <a:lstStyle/>
          <a:p>
            <a:r>
              <a:rPr lang="en-US" sz="3200" b="1" dirty="0">
                <a:latin typeface="Times New Roman" panose="02020603050405020304" pitchFamily="18" charset="0"/>
                <a:cs typeface="Times New Roman" panose="02020603050405020304" pitchFamily="18" charset="0"/>
              </a:rPr>
              <a:t>Future Work</a:t>
            </a:r>
            <a:endParaRPr lang="en-IN" sz="32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8A235079-2736-A71F-E943-70699DFCCA6A}"/>
              </a:ext>
            </a:extLst>
          </p:cNvPr>
          <p:cNvSpPr>
            <a:spLocks noChangeArrowheads="1"/>
          </p:cNvSpPr>
          <p:nvPr/>
        </p:nvSpPr>
        <p:spPr bwMode="auto">
          <a:xfrm>
            <a:off x="630936" y="968964"/>
            <a:ext cx="977988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1600" dirty="0"/>
              <a:t>Future research aims to improve the efficiency and sustainability of AI architectures through adaptive hybrid systems capable of dynamically selecting the most suitable processing approach based on task complexity and resource availability.</a:t>
            </a:r>
            <a:br>
              <a:rPr lang="en-US" sz="1600" dirty="0"/>
            </a:br>
            <a:endParaRPr lang="en-US" sz="1600" dirty="0"/>
          </a:p>
          <a:p>
            <a:pPr marL="285750" indent="-285750">
              <a:buFont typeface="Arial" panose="020B0604020202020204" pitchFamily="34" charset="0"/>
              <a:buChar char="•"/>
            </a:pPr>
            <a:r>
              <a:rPr lang="en-US" sz="1600" dirty="0"/>
              <a:t>One major area of improvement involves optimizing communication between agents. Techniques such as compressed data transfer, selective synchronization, and interval-based communication can reduce the energy tax associated with distributed AI systems.</a:t>
            </a:r>
            <a:br>
              <a:rPr lang="en-US" sz="1600" dirty="0"/>
            </a:br>
            <a:endParaRPr lang="en-US" sz="1600" dirty="0"/>
          </a:p>
          <a:p>
            <a:pPr marL="285750" indent="-285750">
              <a:buFont typeface="Arial" panose="020B0604020202020204" pitchFamily="34" charset="0"/>
              <a:buChar char="•"/>
            </a:pPr>
            <a:r>
              <a:rPr lang="en-US" sz="1600" dirty="0"/>
              <a:t>Another important direction is hardware-aware optimization. Better utilization of GPUs, TPUs, and distributed computing infrastructure can significantly improve performance while reducing energy consumption.</a:t>
            </a:r>
            <a:br>
              <a:rPr lang="en-US" sz="1600" dirty="0"/>
            </a:br>
            <a:endParaRPr lang="en-US" sz="1600" dirty="0"/>
          </a:p>
          <a:p>
            <a:pPr marL="285750" indent="-285750">
              <a:buFont typeface="Arial" panose="020B0604020202020204" pitchFamily="34" charset="0"/>
              <a:buChar char="•"/>
            </a:pPr>
            <a:r>
              <a:rPr lang="en-US" sz="1600" dirty="0"/>
              <a:t>Future studies may also extend evaluations to real-world domains such as robotics, healthcare, natural language processing, and computer vision to assess system robustness and scalability under practical conditions.</a:t>
            </a:r>
            <a:br>
              <a:rPr lang="en-US" sz="1600" dirty="0"/>
            </a:br>
            <a:endParaRPr lang="en-US" sz="1600" dirty="0"/>
          </a:p>
          <a:p>
            <a:pPr marL="285750" indent="-285750">
              <a:buFont typeface="Arial" panose="020B0604020202020204" pitchFamily="34" charset="0"/>
              <a:buChar char="•"/>
            </a:pPr>
            <a:r>
              <a:rPr lang="en-US" sz="1600" dirty="0"/>
              <a:t>In addition to measuring energy consumption, future research should include sustainability metrics such as carbon footprint, resource utilization, and environmental impact assessment.</a:t>
            </a:r>
            <a:br>
              <a:rPr lang="en-US" sz="1600" dirty="0"/>
            </a:br>
            <a:endParaRPr lang="en-US" sz="1600" dirty="0"/>
          </a:p>
          <a:p>
            <a:pPr marL="285750" indent="-285750">
              <a:buFont typeface="Arial" panose="020B0604020202020204" pitchFamily="34" charset="0"/>
              <a:buChar char="•"/>
            </a:pPr>
            <a:r>
              <a:rPr lang="en-US" sz="1600" dirty="0"/>
              <a:t>Advanced learning approaches such as reinforcement learning and meta-learning may further improve the adaptability and intelligence of multi-agent systems.</a:t>
            </a:r>
          </a:p>
        </p:txBody>
      </p:sp>
    </p:spTree>
    <p:extLst>
      <p:ext uri="{BB962C8B-B14F-4D97-AF65-F5344CB8AC3E}">
        <p14:creationId xmlns:p14="http://schemas.microsoft.com/office/powerpoint/2010/main" val="4175221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95722-1C35-AA43-E9FE-117FDDC5C89A}"/>
              </a:ext>
            </a:extLst>
          </p:cNvPr>
          <p:cNvSpPr>
            <a:spLocks noGrp="1"/>
          </p:cNvSpPr>
          <p:nvPr>
            <p:ph type="title"/>
          </p:nvPr>
        </p:nvSpPr>
        <p:spPr>
          <a:xfrm>
            <a:off x="466344" y="0"/>
            <a:ext cx="7314720" cy="914040"/>
          </a:xfrm>
        </p:spPr>
        <p:txBody>
          <a:bodyPr/>
          <a:lstStyle/>
          <a:p>
            <a:r>
              <a:rPr lang="en-US"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1D486C-1523-7121-8BB1-4C0A6C1E1EA4}"/>
              </a:ext>
            </a:extLst>
          </p:cNvPr>
          <p:cNvSpPr txBox="1"/>
          <p:nvPr/>
        </p:nvSpPr>
        <p:spPr>
          <a:xfrm>
            <a:off x="466344" y="1001065"/>
            <a:ext cx="10236327" cy="5693866"/>
          </a:xfrm>
          <a:prstGeom prst="rect">
            <a:avLst/>
          </a:prstGeom>
          <a:noFill/>
        </p:spPr>
        <p:txBody>
          <a:bodyPr wrap="square">
            <a:spAutoFit/>
          </a:bodyPr>
          <a:lstStyle/>
          <a:p>
            <a:pPr lvl="0" fontAlgn="base"/>
            <a:r>
              <a:rPr lang="en-IN" dirty="0"/>
              <a:t>[1] S. Russell and P. Norvig, </a:t>
            </a:r>
            <a:r>
              <a:rPr lang="en-IN" i="1" dirty="0"/>
              <a:t>Artificial Intelligence: A Modern Approach</a:t>
            </a:r>
            <a:r>
              <a:rPr lang="en-IN" dirty="0"/>
              <a:t>, 4th ed. Pearson, 2020. </a:t>
            </a:r>
          </a:p>
          <a:p>
            <a:r>
              <a:rPr lang="en-IN" dirty="0"/>
              <a:t> </a:t>
            </a:r>
          </a:p>
          <a:p>
            <a:pPr lvl="0" fontAlgn="base"/>
            <a:r>
              <a:rPr lang="en-IN" dirty="0"/>
              <a:t>[2] I. Goodfellow, Y. Bengio, and A. Courville, </a:t>
            </a:r>
            <a:r>
              <a:rPr lang="en-IN" i="1" dirty="0"/>
              <a:t>Deep Learning</a:t>
            </a:r>
            <a:r>
              <a:rPr lang="en-IN" dirty="0"/>
              <a:t>. MIT Press, 2016. </a:t>
            </a:r>
          </a:p>
          <a:p>
            <a:r>
              <a:rPr lang="en-IN" dirty="0"/>
              <a:t> </a:t>
            </a:r>
          </a:p>
          <a:p>
            <a:pPr lvl="0" fontAlgn="base"/>
            <a:r>
              <a:rPr lang="en-IN" dirty="0"/>
              <a:t>[3] J. Dean and S. Ghemawat, “MapReduce: Simplified Data Processing on Large Clusters,” </a:t>
            </a:r>
            <a:r>
              <a:rPr lang="en-IN" i="1" dirty="0"/>
              <a:t>Communications of the ACM</a:t>
            </a:r>
            <a:r>
              <a:rPr lang="en-IN" dirty="0"/>
              <a:t>, vol. 51, no. 1, pp. 107–113, 2008. </a:t>
            </a:r>
          </a:p>
          <a:p>
            <a:r>
              <a:rPr lang="en-IN" dirty="0"/>
              <a:t> </a:t>
            </a:r>
          </a:p>
          <a:p>
            <a:pPr lvl="0" fontAlgn="base"/>
            <a:r>
              <a:rPr lang="en-IN" dirty="0"/>
              <a:t>[4] T. N. Kipf and M. Welling, “Semi-Supervised Classification with Graph Convolutional Networks,” </a:t>
            </a:r>
            <a:r>
              <a:rPr lang="en-IN" i="1" dirty="0"/>
              <a:t>International Conference on Learning Representations (ICLR)</a:t>
            </a:r>
            <a:r>
              <a:rPr lang="en-IN" dirty="0"/>
              <a:t>, 2017. </a:t>
            </a:r>
          </a:p>
          <a:p>
            <a:r>
              <a:rPr lang="en-IN" dirty="0"/>
              <a:t> </a:t>
            </a:r>
          </a:p>
          <a:p>
            <a:pPr lvl="0" fontAlgn="base"/>
            <a:r>
              <a:rPr lang="en-IN" dirty="0"/>
              <a:t>[5] D. Silver </a:t>
            </a:r>
            <a:r>
              <a:rPr lang="en-IN" i="1" dirty="0"/>
              <a:t>et al.</a:t>
            </a:r>
            <a:r>
              <a:rPr lang="en-IN" dirty="0"/>
              <a:t>, “Mastering the Game of Go with Deep Neural Networks and Tree Search,” </a:t>
            </a:r>
            <a:r>
              <a:rPr lang="en-IN" i="1" dirty="0"/>
              <a:t>Nature</a:t>
            </a:r>
            <a:r>
              <a:rPr lang="en-IN" dirty="0"/>
              <a:t>, vol. 529, pp. 484–489, 2016. </a:t>
            </a:r>
          </a:p>
          <a:p>
            <a:r>
              <a:rPr lang="en-IN" dirty="0"/>
              <a:t> </a:t>
            </a:r>
          </a:p>
          <a:p>
            <a:pPr lvl="0" fontAlgn="base"/>
            <a:r>
              <a:rPr lang="en-IN" dirty="0"/>
              <a:t>[6] R. Sutton and A. Barto, </a:t>
            </a:r>
            <a:r>
              <a:rPr lang="en-IN" i="1" dirty="0"/>
              <a:t>Reinforcement Learning: An Introduction</a:t>
            </a:r>
            <a:r>
              <a:rPr lang="en-IN" dirty="0"/>
              <a:t>, 2nd ed. MIT Press, 2018. </a:t>
            </a:r>
          </a:p>
          <a:p>
            <a:r>
              <a:rPr lang="en-IN" dirty="0"/>
              <a:t> </a:t>
            </a:r>
          </a:p>
          <a:p>
            <a:pPr lvl="0" fontAlgn="base"/>
            <a:r>
              <a:rPr lang="en-IN" dirty="0"/>
              <a:t>[7] R. Schwartz, J. Dodge, N. A. Smith, and O. Etzioni, “Green AI,” </a:t>
            </a:r>
            <a:r>
              <a:rPr lang="en-IN" i="1" dirty="0"/>
              <a:t>Communications of the ACM</a:t>
            </a:r>
            <a:r>
              <a:rPr lang="en-IN" dirty="0"/>
              <a:t>, vol. 63, no. 12, pp. 54–63, 2020. </a:t>
            </a:r>
          </a:p>
          <a:p>
            <a:r>
              <a:rPr lang="en-IN" dirty="0"/>
              <a:t> </a:t>
            </a:r>
          </a:p>
          <a:p>
            <a:pPr lvl="0" fontAlgn="base"/>
            <a:r>
              <a:rPr lang="en-IN" dirty="0"/>
              <a:t>[8 ] A. Lacoste, A. Luccioni, V. Schmidt, and T. </a:t>
            </a:r>
            <a:r>
              <a:rPr lang="en-IN" dirty="0" err="1"/>
              <a:t>Dandres</a:t>
            </a:r>
            <a:r>
              <a:rPr lang="en-IN" dirty="0"/>
              <a:t>, “Quantifying the Carbon Emissions of Machine Learning,” </a:t>
            </a:r>
            <a:r>
              <a:rPr lang="en-IN" i="1" dirty="0" err="1"/>
              <a:t>NeurIPS</a:t>
            </a:r>
            <a:r>
              <a:rPr lang="en-IN" i="1" dirty="0"/>
              <a:t> Workshop</a:t>
            </a:r>
            <a:r>
              <a:rPr lang="en-IN" dirty="0"/>
              <a:t>, 2019. </a:t>
            </a:r>
          </a:p>
          <a:p>
            <a:r>
              <a:rPr lang="en-IN" dirty="0"/>
              <a:t> </a:t>
            </a:r>
          </a:p>
          <a:p>
            <a:pPr lvl="0" fontAlgn="base"/>
            <a:r>
              <a:rPr lang="en-IN" dirty="0"/>
              <a:t>[9] Y. Shoham and K. Leyton-Brown, </a:t>
            </a:r>
            <a:r>
              <a:rPr lang="en-IN" i="1" dirty="0"/>
              <a:t>Multiagent Systems: Algorithmic, Game-Theoretic, and Logical Foundations</a:t>
            </a:r>
            <a:r>
              <a:rPr lang="en-IN" dirty="0"/>
              <a:t>. Cambridge University Press, 2009. </a:t>
            </a:r>
          </a:p>
          <a:p>
            <a:r>
              <a:rPr lang="en-IN" dirty="0"/>
              <a:t> </a:t>
            </a:r>
          </a:p>
          <a:p>
            <a:pPr lvl="0" fontAlgn="base"/>
            <a:r>
              <a:rPr lang="en-IN" dirty="0"/>
              <a:t>[10] L. N. Vicente and P. H. Afonso, “Energy Efficiency in Distributed Artificial Intelligence Systems,” </a:t>
            </a:r>
            <a:r>
              <a:rPr lang="en-IN" i="1" dirty="0"/>
              <a:t>IEEE Transactions on Sustainable Computing</a:t>
            </a:r>
            <a:r>
              <a:rPr lang="en-IN" dirty="0"/>
              <a:t>, vol. 6, no. 3, pp. 450–462, 2021. </a:t>
            </a:r>
          </a:p>
        </p:txBody>
      </p:sp>
    </p:spTree>
    <p:extLst>
      <p:ext uri="{BB962C8B-B14F-4D97-AF65-F5344CB8AC3E}">
        <p14:creationId xmlns:p14="http://schemas.microsoft.com/office/powerpoint/2010/main" val="306601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9"/>
          <p:cNvSpPr txBox="1"/>
          <p:nvPr/>
        </p:nvSpPr>
        <p:spPr>
          <a:xfrm>
            <a:off x="2821582" y="2821582"/>
            <a:ext cx="6705599" cy="1410788"/>
          </a:xfrm>
          <a:prstGeom prst="rect">
            <a:avLst/>
          </a:prstGeom>
          <a:noFill/>
          <a:ln>
            <a:noFill/>
          </a:ln>
        </p:spPr>
        <p:txBody>
          <a:bodyPr spcFirstLastPara="1" wrap="square" lIns="91425" tIns="45700" rIns="91425" bIns="45700" anchor="ctr" anchorCtr="0">
            <a:noAutofit/>
          </a:bodyPr>
          <a:lstStyle/>
          <a:p>
            <a:pPr algn="ctr"/>
            <a:r>
              <a:rPr lang="en-US" sz="5400">
                <a:solidFill>
                  <a:schemeClr val="dk1"/>
                </a:solidFill>
                <a:latin typeface="Times New Roman"/>
                <a:ea typeface="Times New Roman"/>
                <a:cs typeface="Times New Roman"/>
                <a:sym typeface="Times New Roman"/>
              </a:rPr>
              <a:t>Thank You</a:t>
            </a:r>
            <a:endParaRPr sz="5400">
              <a:latin typeface="Times New Roman"/>
              <a:ea typeface="Times New Roman"/>
              <a:cs typeface="Times New Roman"/>
              <a:sym typeface="Times New Roman"/>
            </a:endParaRPr>
          </a:p>
        </p:txBody>
      </p:sp>
      <p:sp>
        <p:nvSpPr>
          <p:cNvPr id="198" name="Google Shape;198;p9"/>
          <p:cNvSpPr txBox="1"/>
          <p:nvPr/>
        </p:nvSpPr>
        <p:spPr>
          <a:xfrm>
            <a:off x="8077080" y="6356520"/>
            <a:ext cx="2133360" cy="364680"/>
          </a:xfrm>
          <a:prstGeom prst="rect">
            <a:avLst/>
          </a:prstGeom>
          <a:noFill/>
          <a:ln>
            <a:noFill/>
          </a:ln>
        </p:spPr>
        <p:txBody>
          <a:bodyPr spcFirstLastPara="1" wrap="square" lIns="91425" tIns="45700" rIns="91425" bIns="45700" anchor="ctr" anchorCtr="0">
            <a:noAutofit/>
          </a:bodyPr>
          <a:lstStyle/>
          <a:p>
            <a:pPr algn="r"/>
            <a:fld id="{00000000-1234-1234-1234-123412341234}" type="slidenum">
              <a:rPr lang="en-US" sz="1200" b="1">
                <a:latin typeface="Calibri"/>
                <a:ea typeface="Calibri"/>
                <a:cs typeface="Calibri"/>
                <a:sym typeface="Calibri"/>
              </a:rPr>
              <a:pPr algn="r"/>
              <a:t>13</a:t>
            </a:fld>
            <a:endParaRPr sz="1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TotalTime>
  <Words>2179</Words>
  <Application>Microsoft Office PowerPoint</Application>
  <PresentationFormat>Widescreen</PresentationFormat>
  <Paragraphs>104</Paragraphs>
  <Slides>13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Times New Roman</vt:lpstr>
      <vt:lpstr>Calibri</vt:lpstr>
      <vt:lpstr>Office Theme</vt:lpstr>
      <vt:lpstr>PowerPoint Presentation</vt:lpstr>
      <vt:lpstr>  Abstract</vt:lpstr>
      <vt:lpstr>Introduction</vt:lpstr>
      <vt:lpstr>Core Concept</vt:lpstr>
      <vt:lpstr> Literature Review </vt:lpstr>
      <vt:lpstr>Methodology</vt:lpstr>
      <vt:lpstr>System Architecture</vt:lpstr>
      <vt:lpstr>Results- Carbon Reduction</vt:lpstr>
      <vt:lpstr>PowerPoint Presentation</vt:lpstr>
      <vt:lpstr>Conclusion</vt:lpstr>
      <vt:lpstr>Future Work</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Diya</dc:creator>
  <cp:lastModifiedBy>Diya Raina</cp:lastModifiedBy>
  <cp:revision>10</cp:revision>
  <dcterms:created xsi:type="dcterms:W3CDTF">2010-04-09T07:36:15Z</dcterms:created>
  <dcterms:modified xsi:type="dcterms:W3CDTF">2026-05-14T17:55:25Z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